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svg" ContentType="image/svg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custom-properties" Target="docProps/custom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2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4" Type="http://schemas.openxmlformats.org/officeDocument/2006/relationships/tableStyles" Target="tableStyles.xml" /><Relationship Id="rId11" Type="http://schemas.openxmlformats.org/officeDocument/2006/relationships/slide" Target="slides/slide11.xml" /><Relationship Id="rId0" Type="http://schemas.openxmlformats.org/officeDocument/2006/relationships/slideMaster" Target="slideMasters/slideMaster1.xml" /><Relationship Id="rId12" Type="http://schemas.openxmlformats.org/officeDocument/2006/relationships/notesMaster" Target="notesMasters/notesMaster1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15" Type="http://schemas.openxmlformats.org/officeDocument/2006/relationships/viewProps" Target="viewProps.xml" /><Relationship Id="rId13" Type="http://schemas.openxmlformats.org/officeDocument/2006/relationships/presProps" Target="presProps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png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hyperlink" Target="https://skywalk163.github.io/renlei-2100/" TargetMode="Externa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D0C"/>
          </a:solidFill>
          <a:ln/>
        </p:spPr>
        <p:txBody>
          <a:bodyPr/>
          <a:p>
            <a:pPr/>
            <a:endParaRPr/>
          </a:p>
        </p:txBody>
      </p:sp>
      <p:sp>
        <p:nvSpPr>
          <p:cNvPr id="3" name=""/>
          <p:cNvSpPr/>
          <p:nvPr/>
        </p:nvSpPr>
        <p:spPr>
          <a:xfrm rot="0" flipH="0" flipV="0">
            <a:off x="685800" y="676275"/>
            <a:ext cx="247650" cy="19050"/>
          </a:xfrm>
          <a:prstGeom prst="rect">
            <a:avLst/>
          </a:prstGeom>
          <a:solidFill>
            <a:srgbClr val="3DDC84"/>
          </a:solidFill>
          <a:ln/>
        </p:spPr>
        <p:txBody>
          <a:bodyPr/>
          <a:p>
            <a:pPr/>
            <a:endParaRPr/>
          </a:p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1047750" y="609600"/>
            <a:ext cx="28670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3DDC84"/>
                </a:solidFill>
                <a:latin typeface="Microsoft YaHei"/>
                <a:ea typeface="Microsoft YaHei"/>
              </a:rPr>
              <a:t xml:space="preserve">TRAE </a:t>
            </a:r>
            <a:r>
              <a:rPr lang="zh-CN" sz="975" spc="225">
                <a:solidFill>
                  <a:srgbClr val="3DDC84"/>
                </a:solidFill>
                <a:latin typeface="Microsoft YaHei"/>
                <a:ea typeface="Microsoft YaHei"/>
              </a:rPr>
              <a:t>高效开发</a:t>
            </a:r>
            <a:r>
              <a:rPr lang="en-US" sz="975" spc="225">
                <a:solidFill>
                  <a:srgbClr val="3DDC84"/>
                </a:solidFill>
                <a:latin typeface="Microsoft YaHei"/>
                <a:ea typeface="Microsoft YaHei"/>
              </a:rPr>
              <a:t xml:space="preserve"> · 1024 </a:t>
            </a:r>
            <a:r>
              <a:rPr lang="zh-CN" sz="975" spc="225">
                <a:solidFill>
                  <a:srgbClr val="3DDC84"/>
                </a:solidFill>
                <a:latin typeface="Microsoft YaHei"/>
                <a:ea typeface="Microsoft YaHei"/>
              </a:rPr>
              <a:t>程序员节</a:t>
            </a:r>
            <a:r>
              <a:rPr lang="en-US" sz="975" spc="225">
                <a:solidFill>
                  <a:srgbClr val="3DDC84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 spc="225">
                <a:solidFill>
                  <a:srgbClr val="3DDC84"/>
                </a:solidFill>
                <a:latin typeface="Microsoft YaHei"/>
                <a:ea typeface="Microsoft YaHei"/>
              </a:rPr>
              <a:t>济宁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85800" y="1504950"/>
            <a:ext cx="5715000" cy="704850"/>
          </a:xfrm>
          <a:prstGeom prst="rect"/>
        </p:spPr>
        <p:txBody>
          <a:bodyPr wrap="none" lIns="0" tIns="0" rIns="0" bIns="0"/>
          <a:p>
            <a:pPr>
              <a:lnSpc>
                <a:spcPct val="122000"/>
              </a:lnSpc>
            </a:pPr>
            <a:r>
              <a:rPr lang="en-US" sz="3750" b="1" spc="75">
                <a:solidFill>
                  <a:srgbClr val="E9F1EC"/>
                </a:solidFill>
                <a:latin typeface="Microsoft YaHei"/>
                <a:ea typeface="Microsoft YaHei"/>
              </a:rPr>
              <a:t xml:space="preserve">90 </a:t>
            </a:r>
            <a:r>
              <a:rPr lang="zh-CN" sz="3750" b="1" spc="75">
                <a:solidFill>
                  <a:srgbClr val="E9F1EC"/>
                </a:solidFill>
                <a:latin typeface="Microsoft YaHei"/>
                <a:ea typeface="Microsoft YaHei"/>
              </a:rPr>
              <a:t>分钟，从</a:t>
            </a:r>
            <a:r>
              <a:rPr lang="en-US" sz="3750" b="1" spc="75">
                <a:solidFill>
                  <a:srgbClr val="E9F1EC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3750" b="1" spc="75">
                <a:solidFill>
                  <a:srgbClr val="E9F1EC"/>
                </a:solidFill>
                <a:latin typeface="Microsoft YaHei"/>
                <a:ea typeface="Microsoft YaHei"/>
              </a:rPr>
              <a:t>个关键词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685800" y="2152650"/>
            <a:ext cx="5715000" cy="704850"/>
          </a:xfrm>
          <a:prstGeom prst="rect"/>
        </p:spPr>
        <p:txBody>
          <a:bodyPr wrap="none" lIns="0" tIns="0" rIns="0" bIns="0"/>
          <a:p>
            <a:pPr>
              <a:lnSpc>
                <a:spcPct val="122000"/>
              </a:lnSpc>
            </a:pPr>
            <a:r>
              <a:rPr lang="zh-CN" sz="3750" b="1" spc="75">
                <a:solidFill>
                  <a:srgbClr val="E9F1EC"/>
                </a:solidFill>
                <a:latin typeface="Microsoft YaHei"/>
                <a:ea typeface="Microsoft YaHei"/>
              </a:rPr>
              <a:t>到</a:t>
            </a:r>
            <a:r>
              <a:rPr lang="zh-CN" sz="3750" b="1" spc="75">
                <a:solidFill>
                  <a:srgbClr val="3DDC84"/>
                </a:solidFill>
                <a:latin typeface="Microsoft YaHei"/>
                <a:ea typeface="Microsoft YaHei"/>
              </a:rPr>
              <a:t>能上台的</a:t>
            </a:r>
            <a:r>
              <a:rPr lang="en-US" sz="3750" b="1" spc="75">
                <a:solidFill>
                  <a:srgbClr val="3DDC84"/>
                </a:solidFill>
                <a:latin typeface="Microsoft YaHei"/>
                <a:ea typeface="Microsoft YaHei"/>
              </a:rPr>
              <a:t xml:space="preserve"> Demo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85800" y="3067050"/>
            <a:ext cx="533400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>
                <a:solidFill>
                  <a:srgbClr val="E9F1EC">
                    <a:alpha val="58000"/>
                  </a:srgbClr>
                </a:solidFill>
                <a:latin typeface="Microsoft YaHei"/>
                <a:ea typeface="Microsoft YaHei"/>
              </a:rPr>
              <a:t>以《人类协议</a:t>
            </a:r>
            <a:r>
              <a:rPr lang="en-US" sz="1425">
                <a:solidFill>
                  <a:srgbClr val="E9F1EC">
                    <a:alpha val="58000"/>
                  </a:srgbClr>
                </a:solidFill>
                <a:latin typeface="Microsoft YaHei"/>
                <a:ea typeface="Microsoft YaHei"/>
              </a:rPr>
              <a:t xml:space="preserve"> 2100</a:t>
            </a:r>
            <a:r>
              <a:rPr lang="zh-CN" sz="1425">
                <a:solidFill>
                  <a:srgbClr val="E9F1EC">
                    <a:alpha val="58000"/>
                  </a:srgbClr>
                </a:solidFill>
                <a:latin typeface="Microsoft YaHei"/>
                <a:ea typeface="Microsoft YaHei"/>
              </a:rPr>
              <a:t>》为唯一案例：一次真实的三线并行复盘，</a:t>
            </a:r>
            <a:r>
              <a:rPr lang="en-US" sz="1425">
                <a:solidFill>
                  <a:srgbClr val="E9F1EC">
                    <a:alpha val="58000"/>
                  </a:srgbClr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425">
                <a:solidFill>
                  <a:srgbClr val="E9F1EC">
                    <a:alpha val="58000"/>
                  </a:srgbClr>
                </a:solidFill>
                <a:latin typeface="Microsoft YaHei"/>
                <a:ea typeface="Microsoft YaHei"/>
              </a:rPr>
              <a:t>不是功能介绍，是踩过坑之后的复盘。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685800" y="4076700"/>
            <a:ext cx="1409700" cy="266700"/>
          </a:xfrm>
          <a:prstGeom prst="roundRect">
            <a:avLst>
              <a:gd name="adj" fmla="val 14286"/>
            </a:avLst>
          </a:prstGeom>
          <a:ln w="12700">
            <a:solidFill>
              <a:srgbClr val="3DDC84">
                <a:alpha val="28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800100" y="4133850"/>
            <a:ext cx="1181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3DDC84"/>
                </a:solidFill>
                <a:latin typeface="Microsoft YaHei"/>
                <a:ea typeface="Microsoft YaHei"/>
              </a:rPr>
              <a:t>案例</a:t>
            </a:r>
            <a:r>
              <a:rPr lang="en-US" sz="975">
                <a:solidFill>
                  <a:srgbClr val="3DDC84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3DDC84"/>
                </a:solidFill>
                <a:latin typeface="Microsoft YaHei"/>
                <a:ea typeface="Microsoft YaHei"/>
              </a:rPr>
              <a:t>人类协议</a:t>
            </a:r>
            <a:r>
              <a:rPr lang="en-US" sz="975">
                <a:solidFill>
                  <a:srgbClr val="3DDC84"/>
                </a:solidFill>
                <a:latin typeface="Microsoft YaHei"/>
                <a:ea typeface="Microsoft YaHei"/>
              </a:rPr>
              <a:t xml:space="preserve"> 2100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2190750" y="4076700"/>
            <a:ext cx="971550" cy="266700"/>
          </a:xfrm>
          <a:prstGeom prst="roundRect">
            <a:avLst>
              <a:gd name="adj" fmla="val 14286"/>
            </a:avLst>
          </a:prstGeom>
          <a:ln w="12700">
            <a:solidFill>
              <a:srgbClr val="E9F1EC">
                <a:alpha val="16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" name=""/>
          <p:cNvSpPr/>
          <p:nvPr/>
        </p:nvSpPr>
        <p:spPr>
          <a:xfrm rot="0" flipH="0" flipV="0">
            <a:off x="3257550" y="4076700"/>
            <a:ext cx="1304925" cy="266700"/>
          </a:xfrm>
          <a:prstGeom prst="roundRect">
            <a:avLst>
              <a:gd name="adj" fmla="val 14286"/>
            </a:avLst>
          </a:prstGeom>
          <a:ln w="12700">
            <a:solidFill>
              <a:srgbClr val="E9F1EC">
                <a:alpha val="16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2305050" y="4133850"/>
            <a:ext cx="742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9F1EC">
                    <a:alpha val="60000"/>
                  </a:srgbClr>
                </a:solidFill>
                <a:latin typeface="Microsoft YaHei"/>
                <a:ea typeface="Microsoft YaHei"/>
              </a:rPr>
              <a:t>光明语言引擎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3371850" y="4133850"/>
            <a:ext cx="10763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9F1EC">
                    <a:alpha val="60000"/>
                  </a:srgbClr>
                </a:solidFill>
                <a:latin typeface="Microsoft YaHei"/>
                <a:ea typeface="Microsoft YaHei"/>
              </a:rPr>
              <a:t xml:space="preserve">1331 </a:t>
            </a:r>
            <a:r>
              <a:rPr lang="zh-CN" sz="975">
                <a:solidFill>
                  <a:srgbClr val="E9F1EC">
                    <a:alpha val="60000"/>
                  </a:srgbClr>
                </a:solidFill>
                <a:latin typeface="Microsoft YaHei"/>
                <a:ea typeface="Microsoft YaHei"/>
              </a:rPr>
              <a:t>组参数预生成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685800" y="463867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3DDC84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685800" y="4876800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3DDC84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685800" y="511492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3DDC84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685800" y="5353050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3DDC84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1066800" y="4629150"/>
            <a:ext cx="2400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9F1EC">
                    <a:alpha val="72000"/>
                  </a:srgbClr>
                </a:solidFill>
                <a:latin typeface="Microsoft YaHei"/>
                <a:ea typeface="Microsoft YaHei"/>
              </a:rPr>
              <a:t>先写</a:t>
            </a:r>
            <a:r>
              <a:rPr lang="en-US" sz="1125">
                <a:solidFill>
                  <a:srgbClr val="E9F1EC">
                    <a:alpha val="72000"/>
                  </a:srgbClr>
                </a:solidFill>
                <a:latin typeface="Microsoft YaHei"/>
                <a:ea typeface="Microsoft YaHei"/>
              </a:rPr>
              <a:t xml:space="preserve"> 60 </a:t>
            </a:r>
            <a:r>
              <a:rPr lang="zh-CN" sz="1125">
                <a:solidFill>
                  <a:srgbClr val="E9F1EC">
                    <a:alpha val="72000"/>
                  </a:srgbClr>
                </a:solidFill>
                <a:latin typeface="Microsoft YaHei"/>
                <a:ea typeface="Microsoft YaHei"/>
              </a:rPr>
              <a:t>秒演示脚本，再写第一行代码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1066800" y="4867275"/>
            <a:ext cx="2543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9F1EC">
                    <a:alpha val="72000"/>
                  </a:srgbClr>
                </a:solidFill>
                <a:latin typeface="Microsoft YaHei"/>
                <a:ea typeface="Microsoft YaHei"/>
              </a:rPr>
              <a:t>并行之前，用</a:t>
            </a:r>
            <a:r>
              <a:rPr lang="en-US" sz="1125">
                <a:solidFill>
                  <a:srgbClr val="E9F1EC">
                    <a:alpha val="72000"/>
                  </a:srgbClr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125">
                <a:solidFill>
                  <a:srgbClr val="E9F1EC">
                    <a:alpha val="72000"/>
                  </a:srgbClr>
                </a:solidFill>
                <a:latin typeface="Microsoft YaHei"/>
                <a:ea typeface="Microsoft YaHei"/>
              </a:rPr>
              <a:t>分钟冻结一份接口契约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1066800" y="5105400"/>
            <a:ext cx="2286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9F1EC">
                    <a:alpha val="72000"/>
                  </a:srgbClr>
                </a:solidFill>
                <a:latin typeface="Microsoft YaHei"/>
                <a:ea typeface="Microsoft YaHei"/>
              </a:rPr>
              <a:t>三条线同时开工，靠文件所有权互斥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1066800" y="5343525"/>
            <a:ext cx="2286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9F1EC">
                    <a:alpha val="72000"/>
                  </a:srgbClr>
                </a:solidFill>
                <a:latin typeface="Microsoft YaHei"/>
                <a:ea typeface="Microsoft YaHei"/>
              </a:rPr>
              <a:t>实测提速、现场兜底与八种翻车方式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6572250" y="1866900"/>
            <a:ext cx="5143500" cy="4000500"/>
          </a:xfrm>
          <a:prstGeom prst="rect">
            <a:avLst/>
          </a:prstGeom>
          <a:ln w="12700">
            <a:solidFill>
              <a:srgbClr val="3DDC84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23" name=""/>
          <p:cNvPicPr>
            <a:picLocks noChangeAspect="1"/>
          </p:cNvPicPr>
          <p:nvPr/>
        </p:nvPicPr>
        <p:blipFill>
          <a:blip r:embed="rId1"/>
          <a:srcRect l="5803" t="0" r="5803" b="0"/>
          <a:stretch>
            <a:fillRect/>
          </a:stretch>
        </p:blipFill>
        <p:spPr>
          <a:xfrm rot="0" flipH="0" flipV="0">
            <a:off x="6572250" y="1866900"/>
            <a:ext cx="5143500" cy="4000500"/>
          </a:xfrm>
          <a:prstGeom prst="roundRect">
            <a:avLst>
              <a:gd name="adj" fmla="val 1429"/>
            </a:avLst>
          </a:prstGeom>
          <a:ln/>
        </p:spPr>
      </p:pic>
      <p:sp>
        <p:nvSpPr>
          <p:cNvPr id="24" name=""/>
          <p:cNvSpPr/>
          <p:nvPr/>
        </p:nvSpPr>
        <p:spPr>
          <a:xfrm rot="0" flipH="0" flipV="0">
            <a:off x="6572250" y="6067425"/>
            <a:ext cx="57150" cy="57150"/>
          </a:xfrm>
          <a:prstGeom prst="roundRect">
            <a:avLst>
              <a:gd name="adj" fmla="val 50000"/>
            </a:avLst>
          </a:prstGeom>
          <a:solidFill>
            <a:srgbClr val="3DDC84"/>
          </a:solidFill>
          <a:ln/>
        </p:spPr>
        <p:txBody>
          <a:bodyPr/>
          <a:p>
            <a:pPr/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6724650" y="6019800"/>
            <a:ext cx="2057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E9F1EC">
                    <a:alpha val="42000"/>
                  </a:srgbClr>
                </a:solidFill>
                <a:latin typeface="Microsoft YaHei"/>
                <a:ea typeface="Microsoft YaHei"/>
              </a:rPr>
              <a:t>真实界面</a:t>
            </a:r>
            <a:r>
              <a:rPr lang="en-US" sz="900">
                <a:solidFill>
                  <a:srgbClr val="E9F1EC">
                    <a:alpha val="42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E9F1EC">
                    <a:alpha val="42000"/>
                  </a:srgbClr>
                </a:solidFill>
                <a:latin typeface="Microsoft YaHei"/>
                <a:ea typeface="Microsoft YaHei"/>
              </a:rPr>
              <a:t>参数</a:t>
            </a:r>
            <a:r>
              <a:rPr lang="en-US" sz="900">
                <a:solidFill>
                  <a:srgbClr val="E9F1EC">
                    <a:alpha val="42000"/>
                  </a:srgbClr>
                </a:solidFill>
                <a:latin typeface="Microsoft YaHei"/>
                <a:ea typeface="Microsoft YaHei"/>
              </a:rPr>
              <a:t xml:space="preserve"> 20 / 90 / 30 </a:t>
            </a:r>
            <a:r>
              <a:rPr lang="zh-CN" sz="900">
                <a:solidFill>
                  <a:srgbClr val="E9F1EC">
                    <a:alpha val="42000"/>
                  </a:srgbClr>
                </a:solidFill>
                <a:latin typeface="Microsoft YaHei"/>
                <a:ea typeface="Microsoft YaHei"/>
              </a:rPr>
              <a:t>的推演结果</a:t>
            </a:r>
            <a:endParaRPr/>
          </a:p>
        </p:txBody>
      </p:sp>
      <p:sp>
        <p:nvSpPr>
          <p:cNvPr id="26" name=""/>
          <p:cNvSpPr/>
          <p:nvPr/>
        </p:nvSpPr>
        <p:spPr>
          <a:xfrm rot="0" flipH="0" flipV="0">
            <a:off x="685800" y="6172200"/>
            <a:ext cx="10820400" cy="9525"/>
          </a:xfrm>
          <a:prstGeom prst="rect">
            <a:avLst/>
          </a:prstGeom>
          <a:solidFill>
            <a:srgbClr val="E9F1EC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685800" y="6324600"/>
            <a:ext cx="9239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E9F1EC">
                    <a:alpha val="38000"/>
                  </a:srgbClr>
                </a:solidFill>
                <a:latin typeface="Microsoft YaHei"/>
                <a:ea typeface="Microsoft YaHei"/>
              </a:rPr>
              <a:t xml:space="preserve">2026.10.24 · </a:t>
            </a:r>
            <a:r>
              <a:rPr lang="zh-CN" sz="900">
                <a:solidFill>
                  <a:srgbClr val="E9F1EC">
                    <a:alpha val="38000"/>
                  </a:srgbClr>
                </a:solidFill>
                <a:latin typeface="Microsoft YaHei"/>
                <a:ea typeface="Microsoft YaHei"/>
              </a:rPr>
              <a:t>济宁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10820400" y="6324600"/>
            <a:ext cx="685800" cy="14287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900">
                <a:solidFill>
                  <a:srgbClr val="E9F1EC">
                    <a:alpha val="38000"/>
                  </a:srgbClr>
                </a:solidFill>
                <a:latin typeface="Microsoft YaHei"/>
                <a:ea typeface="Microsoft YaHei"/>
              </a:rPr>
              <a:t>01 / 11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D0C"/>
          </a:solidFill>
          <a:ln/>
        </p:spPr>
        <p:txBody>
          <a:bodyPr/>
          <a:p>
            <a:pPr/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685800" y="38100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 spc="38">
                <a:solidFill>
                  <a:srgbClr val="E9F1EC"/>
                </a:solidFill>
                <a:latin typeface="Microsoft YaHei"/>
                <a:ea typeface="Microsoft YaHei"/>
              </a:rPr>
              <a:t>如果只带走三句话</a:t>
            </a:r>
            <a:endParaRPr/>
          </a:p>
        </p:txBody>
      </p:sp>
      <p:sp>
        <p:nvSpPr>
          <p:cNvPr id="121" name=""/>
          <p:cNvSpPr/>
          <p:nvPr/>
        </p:nvSpPr>
        <p:spPr>
          <a:xfrm rot="0" flipH="0" flipV="0">
            <a:off x="685800" y="1200150"/>
            <a:ext cx="2857500" cy="4629150"/>
          </a:xfrm>
          <a:prstGeom prst="roundRect">
            <a:avLst>
              <a:gd name="adj" fmla="val 2000"/>
            </a:avLst>
          </a:prstGeom>
          <a:solidFill>
            <a:srgbClr val="1A2620"/>
          </a:solidFill>
          <a:ln w="12700">
            <a:solidFill>
              <a:srgbClr val="3DDC84">
                <a:alpha val="16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952500" y="1466850"/>
            <a:ext cx="2324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3DDC84"/>
                </a:solidFill>
                <a:latin typeface="Microsoft YaHei"/>
                <a:ea typeface="Microsoft YaHei"/>
              </a:rPr>
              <a:t>THREE RULES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952500" y="1695450"/>
            <a:ext cx="2324100" cy="11906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00" b="1">
                <a:solidFill>
                  <a:srgbClr val="3DDC84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952500" y="4248150"/>
            <a:ext cx="2324100" cy="3429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75" b="1">
                <a:solidFill>
                  <a:srgbClr val="E9F1EC"/>
                </a:solidFill>
                <a:latin typeface="Microsoft YaHei"/>
                <a:ea typeface="Microsoft YaHei"/>
              </a:rPr>
              <a:t>三条铁律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3848100" y="1200150"/>
            <a:ext cx="485775" cy="140970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2550" b="1">
                <a:solidFill>
                  <a:srgbClr val="3DDC84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4562475" y="1200150"/>
            <a:ext cx="69437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9F1EC"/>
                </a:solidFill>
                <a:latin typeface="Microsoft YaHei"/>
                <a:ea typeface="Microsoft YaHei"/>
              </a:rPr>
              <a:t>演示动线先于代码</a:t>
            </a:r>
            <a:endParaRPr/>
          </a:p>
        </p:txBody>
      </p:sp>
      <p:sp>
        <p:nvSpPr>
          <p:cNvPr id="127" name=""/>
          <p:cNvSpPr/>
          <p:nvPr/>
        </p:nvSpPr>
        <p:spPr>
          <a:xfrm rot="0" flipH="0" flipV="0">
            <a:off x="3848100" y="2705100"/>
            <a:ext cx="7658100" cy="9525"/>
          </a:xfrm>
          <a:prstGeom prst="rect">
            <a:avLst/>
          </a:prstGeom>
          <a:solidFill>
            <a:srgbClr val="E9F1EC">
              <a:alpha val="9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3848100" y="2809875"/>
            <a:ext cx="485775" cy="140970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2550" b="1">
                <a:solidFill>
                  <a:srgbClr val="3DDC84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4562475" y="2809875"/>
            <a:ext cx="69437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9F1EC"/>
                </a:solidFill>
                <a:latin typeface="Microsoft YaHei"/>
                <a:ea typeface="Microsoft YaHei"/>
              </a:rPr>
              <a:t>并行之前先冻结接口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3848100" y="4314825"/>
            <a:ext cx="7658100" cy="9525"/>
          </a:xfrm>
          <a:prstGeom prst="rect">
            <a:avLst/>
          </a:prstGeom>
          <a:solidFill>
            <a:srgbClr val="E9F1EC">
              <a:alpha val="9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3848100" y="4419600"/>
            <a:ext cx="533400" cy="140970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2550" b="1">
                <a:solidFill>
                  <a:srgbClr val="3DDC84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4610100" y="4419600"/>
            <a:ext cx="6096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9F1EC"/>
                </a:solidFill>
                <a:latin typeface="Microsoft YaHei"/>
                <a:ea typeface="Microsoft YaHei"/>
              </a:rPr>
              <a:t>演示的稳定性优先于功能的完整性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685800" y="866775"/>
            <a:ext cx="10820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9F1EC">
                    <a:alpha val="55000"/>
                  </a:srgbClr>
                </a:solidFill>
                <a:latin typeface="Microsoft YaHei"/>
                <a:ea typeface="Microsoft YaHei"/>
              </a:rPr>
              <a:t>这三句不是口号，是</a:t>
            </a:r>
            <a:r>
              <a:rPr lang="en-US" sz="1275">
                <a:solidFill>
                  <a:srgbClr val="E9F1EC">
                    <a:alpha val="55000"/>
                  </a:srgbClr>
                </a:solidFill>
                <a:latin typeface="Microsoft YaHei"/>
                <a:ea typeface="Microsoft YaHei"/>
              </a:rPr>
              <a:t xml:space="preserve"> 90 </a:t>
            </a:r>
            <a:r>
              <a:rPr lang="zh-CN" sz="1275">
                <a:solidFill>
                  <a:srgbClr val="E9F1EC">
                    <a:alpha val="55000"/>
                  </a:srgbClr>
                </a:solidFill>
                <a:latin typeface="Microsoft YaHei"/>
                <a:ea typeface="Microsoft YaHei"/>
              </a:rPr>
              <a:t>分钟里每一次决策的止损线。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952500" y="4686300"/>
            <a:ext cx="2324100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E9F1EC">
                    <a:alpha val="60000"/>
                  </a:srgbClr>
                </a:solidFill>
                <a:latin typeface="Microsoft YaHei"/>
                <a:ea typeface="Microsoft YaHei"/>
              </a:rPr>
              <a:t>十条铁律里，只有这三条决定项目会不会崩。其余七条是执行细节，这三条是边界。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4562475" y="1552575"/>
            <a:ext cx="6943725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E9F1EC">
                    <a:alpha val="62000"/>
                  </a:srgbClr>
                </a:solidFill>
                <a:latin typeface="Microsoft YaHei"/>
                <a:ea typeface="Microsoft YaHei"/>
              </a:rPr>
              <a:t>代码是给演示服务的，不是反过来。先想清楚</a:t>
            </a:r>
            <a:r>
              <a:rPr lang="en-US" sz="1200">
                <a:solidFill>
                  <a:srgbClr val="E9F1EC">
                    <a:alpha val="62000"/>
                  </a:srgbClr>
                </a:solidFill>
                <a:latin typeface="Microsoft YaHei"/>
                <a:ea typeface="Microsoft YaHei"/>
              </a:rPr>
              <a:t xml:space="preserve"> 60 </a:t>
            </a:r>
            <a:r>
              <a:rPr lang="zh-CN" sz="1200">
                <a:solidFill>
                  <a:srgbClr val="E9F1EC">
                    <a:alpha val="62000"/>
                  </a:srgbClr>
                </a:solidFill>
                <a:latin typeface="Microsoft YaHei"/>
                <a:ea typeface="Microsoft YaHei"/>
              </a:rPr>
              <a:t>秒里观众看到什么，再决定写什么。砍功能的时候，这条线是唯一不用吵架的依据。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4562475" y="3162300"/>
            <a:ext cx="6943725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E9F1EC">
                    <a:alpha val="62000"/>
                  </a:srgbClr>
                </a:solidFill>
                <a:latin typeface="Microsoft YaHei"/>
                <a:ea typeface="Microsoft YaHei"/>
              </a:rPr>
              <a:t>否则并行只会变成返工。契约只写四件事：字段名、函数签名、接口路径、文件所有权。十分钟的成本，换掉一整轮对齐。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4610100" y="4772025"/>
            <a:ext cx="6096000" cy="3143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>
                <a:solidFill>
                  <a:srgbClr val="E9F1EC">
                    <a:alpha val="62000"/>
                  </a:srgbClr>
                </a:solidFill>
                <a:latin typeface="Microsoft YaHei"/>
                <a:ea typeface="Microsoft YaHei"/>
              </a:rPr>
              <a:t>现场网络、模型额度、端口占用，没有一样在你手里。所以先保证能演完，再谈功能齐全。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685800" y="5934075"/>
            <a:ext cx="16287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E9F1EC">
                    <a:alpha val="38000"/>
                  </a:srgbClr>
                </a:solidFill>
                <a:latin typeface="Microsoft YaHei"/>
                <a:ea typeface="Microsoft YaHei"/>
              </a:rPr>
              <a:t xml:space="preserve">TRAE </a:t>
            </a:r>
            <a:r>
              <a:rPr lang="zh-CN" sz="900">
                <a:solidFill>
                  <a:srgbClr val="E9F1EC">
                    <a:alpha val="38000"/>
                  </a:srgbClr>
                </a:solidFill>
                <a:latin typeface="Microsoft YaHei"/>
                <a:ea typeface="Microsoft YaHei"/>
              </a:rPr>
              <a:t>高效开发实战</a:t>
            </a:r>
            <a:r>
              <a:rPr lang="en-US" sz="900">
                <a:solidFill>
                  <a:srgbClr val="E9F1EC">
                    <a:alpha val="38000"/>
                  </a:srgbClr>
                </a:solidFill>
                <a:latin typeface="Microsoft YaHei"/>
                <a:ea typeface="Microsoft YaHei"/>
              </a:rPr>
              <a:t xml:space="preserve"> · 1024 </a:t>
            </a:r>
            <a:r>
              <a:rPr lang="zh-CN" sz="900">
                <a:solidFill>
                  <a:srgbClr val="E9F1EC">
                    <a:alpha val="38000"/>
                  </a:srgbClr>
                </a:solidFill>
                <a:latin typeface="Microsoft YaHei"/>
                <a:ea typeface="Microsoft YaHei"/>
              </a:rPr>
              <a:t>济宁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11115675" y="593407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E9F1EC">
                    <a:alpha val="38000"/>
                  </a:srgbClr>
                </a:solidFill>
                <a:latin typeface="Microsoft YaHei"/>
                <a:ea typeface="Microsoft YaHei"/>
              </a:rPr>
              <a:t>02 / 11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D0C"/>
          </a:solidFill>
          <a:ln/>
        </p:spPr>
        <p:txBody>
          <a:bodyPr/>
          <a:p>
            <a:pPr/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685800" y="38100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 spc="38">
                <a:solidFill>
                  <a:srgbClr val="E9F1EC"/>
                </a:solidFill>
                <a:latin typeface="Microsoft YaHei"/>
                <a:ea typeface="Microsoft YaHei"/>
              </a:rPr>
              <a:t>三个随机关键词，长成一个能演的命题</a:t>
            </a:r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5029200" y="1200150"/>
            <a:ext cx="438150" cy="247650"/>
          </a:xfrm>
          <a:prstGeom prst="roundRect">
            <a:avLst>
              <a:gd name="adj" fmla="val 11538"/>
            </a:avLst>
          </a:prstGeom>
          <a:solidFill>
            <a:srgbClr val="3DDC84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5124450" y="124777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3DDC84"/>
                </a:solidFill>
                <a:latin typeface="Microsoft YaHei"/>
                <a:ea typeface="Microsoft YaHei"/>
              </a:rPr>
              <a:t>程序</a:t>
            </a:r>
            <a:endParaRPr/>
          </a:p>
        </p:txBody>
      </p:sp>
      <p:sp>
        <p:nvSpPr>
          <p:cNvPr id="145" name=""/>
          <p:cNvSpPr/>
          <p:nvPr/>
        </p:nvSpPr>
        <p:spPr>
          <a:xfrm rot="0" flipH="0" flipV="0">
            <a:off x="5543550" y="1200150"/>
            <a:ext cx="438150" cy="247650"/>
          </a:xfrm>
          <a:prstGeom prst="roundRect">
            <a:avLst>
              <a:gd name="adj" fmla="val 11538"/>
            </a:avLst>
          </a:prstGeom>
          <a:solidFill>
            <a:srgbClr val="3DDC84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5638800" y="124777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3DDC84"/>
                </a:solidFill>
                <a:latin typeface="Microsoft YaHei"/>
                <a:ea typeface="Microsoft YaHei"/>
              </a:rPr>
              <a:t>未来</a:t>
            </a:r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6057900" y="1200150"/>
            <a:ext cx="438150" cy="247650"/>
          </a:xfrm>
          <a:prstGeom prst="roundRect">
            <a:avLst>
              <a:gd name="adj" fmla="val 11538"/>
            </a:avLst>
          </a:prstGeom>
          <a:solidFill>
            <a:srgbClr val="3DDC84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6153150" y="124777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3DDC84"/>
                </a:solidFill>
                <a:latin typeface="Microsoft YaHei"/>
                <a:ea typeface="Microsoft YaHei"/>
              </a:rPr>
              <a:t>人类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5029200" y="1638300"/>
            <a:ext cx="6477000" cy="1143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350">
                <a:solidFill>
                  <a:srgbClr val="E9F1EC"/>
                </a:solidFill>
                <a:latin typeface="Microsoft YaHei"/>
                <a:ea typeface="Microsoft YaHei"/>
              </a:rPr>
              <a:t>把</a:t>
            </a:r>
            <a:r>
              <a:rPr lang="zh-CN" sz="1350">
                <a:solidFill>
                  <a:srgbClr val="3DDC84"/>
                </a:solidFill>
                <a:latin typeface="Microsoft YaHei"/>
                <a:ea typeface="Microsoft YaHei"/>
              </a:rPr>
              <a:t>技术速率、共情浓度、集体选择</a:t>
            </a:r>
            <a:r>
              <a:rPr lang="zh-CN" sz="1350">
                <a:solidFill>
                  <a:srgbClr val="E9F1EC"/>
                </a:solidFill>
                <a:latin typeface="Microsoft YaHei"/>
                <a:ea typeface="Microsoft YaHei"/>
              </a:rPr>
              <a:t>三个旋钮交给程序，推演</a:t>
            </a:r>
            <a:r>
              <a:rPr lang="en-US" sz="1350">
                <a:solidFill>
                  <a:srgbClr val="E9F1EC"/>
                </a:solidFill>
                <a:latin typeface="Microsoft YaHei"/>
                <a:ea typeface="Microsoft YaHei"/>
              </a:rPr>
              <a:t xml:space="preserve"> 2100 </a:t>
            </a:r>
            <a:r>
              <a:rPr lang="zh-CN" sz="1350">
                <a:solidFill>
                  <a:srgbClr val="E9F1EC"/>
                </a:solidFill>
                <a:latin typeface="Microsoft YaHei"/>
                <a:ea typeface="Microsoft YaHei"/>
              </a:rPr>
              <a:t>年的三种人类未来，并收到一封来自</a:t>
            </a:r>
            <a:r>
              <a:rPr lang="en-US" sz="1350">
                <a:solidFill>
                  <a:srgbClr val="E9F1EC"/>
                </a:solidFill>
                <a:latin typeface="Microsoft YaHei"/>
                <a:ea typeface="Microsoft YaHei"/>
              </a:rPr>
              <a:t xml:space="preserve"> 2100 </a:t>
            </a:r>
            <a:r>
              <a:rPr lang="zh-CN" sz="1350">
                <a:solidFill>
                  <a:srgbClr val="E9F1EC"/>
                </a:solidFill>
                <a:latin typeface="Microsoft YaHei"/>
                <a:ea typeface="Microsoft YaHei"/>
              </a:rPr>
              <a:t>年的回信。它满足三件事：输入极简、结果有叙事、截图可传播。</a:t>
            </a:r>
            <a:endParaRPr/>
          </a:p>
        </p:txBody>
      </p:sp>
      <p:sp>
        <p:nvSpPr>
          <p:cNvPr id="150" name=""/>
          <p:cNvSpPr/>
          <p:nvPr/>
        </p:nvSpPr>
        <p:spPr>
          <a:xfrm rot="0" flipH="0" flipV="0">
            <a:off x="5029200" y="3009900"/>
            <a:ext cx="1866900" cy="723900"/>
          </a:xfrm>
          <a:prstGeom prst="roundRect">
            <a:avLst>
              <a:gd name="adj" fmla="val 5263"/>
            </a:avLst>
          </a:prstGeom>
          <a:solidFill>
            <a:srgbClr val="1A2620"/>
          </a:solidFill>
          <a:ln w="12700">
            <a:solidFill>
              <a:srgbClr val="E9F1EC">
                <a:alpha val="1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5162550" y="3143250"/>
            <a:ext cx="1600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DDC84"/>
                </a:solidFill>
                <a:latin typeface="Microsoft YaHei"/>
                <a:ea typeface="Microsoft YaHei"/>
              </a:rPr>
              <a:t>INPUT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5162550" y="3343275"/>
            <a:ext cx="16002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E9F1EC"/>
                </a:solidFill>
                <a:latin typeface="Microsoft YaHei"/>
                <a:ea typeface="Microsoft YaHei"/>
              </a:rPr>
              <a:t>三个</a:t>
            </a:r>
            <a:r>
              <a:rPr lang="en-US" sz="1125">
                <a:solidFill>
                  <a:srgbClr val="E9F1EC"/>
                </a:solidFill>
                <a:latin typeface="Microsoft YaHei"/>
                <a:ea typeface="Microsoft YaHei"/>
              </a:rPr>
              <a:t xml:space="preserve"> 0–100 </a:t>
            </a:r>
            <a:r>
              <a:rPr lang="zh-CN" sz="1125">
                <a:solidFill>
                  <a:srgbClr val="E9F1EC"/>
                </a:solidFill>
                <a:latin typeface="Microsoft YaHei"/>
                <a:ea typeface="Microsoft YaHei"/>
              </a:rPr>
              <a:t>的滑块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7010400" y="3267075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3DDC84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54" name=""/>
          <p:cNvSpPr/>
          <p:nvPr/>
        </p:nvSpPr>
        <p:spPr>
          <a:xfrm rot="0" flipH="0" flipV="0">
            <a:off x="7296150" y="3009900"/>
            <a:ext cx="1866900" cy="723900"/>
          </a:xfrm>
          <a:prstGeom prst="roundRect">
            <a:avLst>
              <a:gd name="adj" fmla="val 5263"/>
            </a:avLst>
          </a:prstGeom>
          <a:solidFill>
            <a:srgbClr val="1A2620"/>
          </a:solidFill>
          <a:ln w="12700">
            <a:solidFill>
              <a:srgbClr val="E9F1EC">
                <a:alpha val="1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7429500" y="3143250"/>
            <a:ext cx="1600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DDC84"/>
                </a:solidFill>
                <a:latin typeface="Microsoft YaHei"/>
                <a:ea typeface="Microsoft YaHei"/>
              </a:rPr>
              <a:t>PROCESS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7429500" y="3343275"/>
            <a:ext cx="16002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E9F1EC"/>
                </a:solidFill>
                <a:latin typeface="Microsoft YaHei"/>
                <a:ea typeface="Microsoft YaHei"/>
              </a:rPr>
              <a:t>光明引擎纯函数推演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9277350" y="3267075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3DDC84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58" name=""/>
          <p:cNvSpPr/>
          <p:nvPr/>
        </p:nvSpPr>
        <p:spPr>
          <a:xfrm rot="0" flipH="0" flipV="0">
            <a:off x="9563100" y="3009900"/>
            <a:ext cx="1866900" cy="723900"/>
          </a:xfrm>
          <a:prstGeom prst="roundRect">
            <a:avLst>
              <a:gd name="adj" fmla="val 5263"/>
            </a:avLst>
          </a:prstGeom>
          <a:solidFill>
            <a:srgbClr val="1A2620"/>
          </a:solidFill>
          <a:ln w="12700">
            <a:solidFill>
              <a:srgbClr val="E9F1EC">
                <a:alpha val="1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9696450" y="3143250"/>
            <a:ext cx="1600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DDC84"/>
                </a:solidFill>
                <a:latin typeface="Microsoft YaHei"/>
                <a:ea typeface="Microsoft YaHei"/>
              </a:rPr>
              <a:t>OUTPUT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9696450" y="3343275"/>
            <a:ext cx="16002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E9F1EC"/>
                </a:solidFill>
                <a:latin typeface="Microsoft YaHei"/>
                <a:ea typeface="Microsoft YaHei"/>
              </a:rPr>
              <a:t>指数</a:t>
            </a:r>
            <a:r>
              <a:rPr lang="en-US" sz="1125">
                <a:solidFill>
                  <a:srgbClr val="E9F1EC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25">
                <a:solidFill>
                  <a:srgbClr val="E9F1EC"/>
                </a:solidFill>
                <a:latin typeface="Microsoft YaHei"/>
                <a:ea typeface="Microsoft YaHei"/>
              </a:rPr>
              <a:t>三支概率</a:t>
            </a:r>
            <a:r>
              <a:rPr lang="en-US" sz="1125">
                <a:solidFill>
                  <a:srgbClr val="E9F1EC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25">
                <a:solidFill>
                  <a:srgbClr val="E9F1EC"/>
                </a:solidFill>
                <a:latin typeface="Microsoft YaHei"/>
                <a:ea typeface="Microsoft YaHei"/>
              </a:rPr>
              <a:t>回信</a:t>
            </a:r>
            <a:endParaRPr/>
          </a:p>
        </p:txBody>
      </p:sp>
      <p:sp>
        <p:nvSpPr>
          <p:cNvPr id="161" name=""/>
          <p:cNvSpPr/>
          <p:nvPr/>
        </p:nvSpPr>
        <p:spPr>
          <a:xfrm rot="0" flipH="0" flipV="0">
            <a:off x="5029200" y="5172075"/>
            <a:ext cx="6477000" cy="666750"/>
          </a:xfrm>
          <a:custGeom>
            <a:pathLst>
              <a:path w="680" h="70">
                <a:moveTo>
                  <a:pt x="0" y="0"/>
                </a:moveTo>
                <a:lnTo>
                  <a:pt x="680" y="0"/>
                </a:lnTo>
                <a:lnTo>
                  <a:pt x="6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9F1EC">
              <a:alpha val="9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5029200" y="5334000"/>
            <a:ext cx="17335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E9F1EC"/>
                </a:solidFill>
                <a:latin typeface="Microsoft YaHei"/>
                <a:ea typeface="Microsoft YaHei"/>
              </a:rPr>
              <a:t xml:space="preserve">1331 </a:t>
            </a:r>
            <a:r>
              <a:rPr lang="zh-CN" sz="1950" b="1">
                <a:solidFill>
                  <a:srgbClr val="E9F1EC"/>
                </a:solidFill>
                <a:latin typeface="Microsoft YaHei"/>
                <a:ea typeface="Microsoft YaHei"/>
              </a:rPr>
              <a:t>组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7029450" y="5334000"/>
            <a:ext cx="1990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E9F1EC"/>
                </a:solidFill>
                <a:latin typeface="Microsoft YaHei"/>
                <a:ea typeface="Microsoft YaHei"/>
              </a:rPr>
              <a:t xml:space="preserve">3 </a:t>
            </a:r>
            <a:r>
              <a:rPr lang="zh-CN" sz="1950" b="1">
                <a:solidFill>
                  <a:srgbClr val="E9F1EC"/>
                </a:solidFill>
                <a:latin typeface="Microsoft YaHei"/>
                <a:ea typeface="Microsoft YaHei"/>
              </a:rPr>
              <a:t>条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685800" y="866775"/>
            <a:ext cx="10820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9F1EC">
                    <a:alpha val="55000"/>
                  </a:srgbClr>
                </a:solidFill>
                <a:latin typeface="Microsoft YaHei"/>
                <a:ea typeface="Microsoft YaHei"/>
              </a:rPr>
              <a:t>任何关键词都往同一个三段式上映射：一个输入</a:t>
            </a:r>
            <a:r>
              <a:rPr lang="en-US" sz="1275">
                <a:solidFill>
                  <a:srgbClr val="E9F1EC">
                    <a:alpha val="55000"/>
                  </a:srgbClr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>
                <a:solidFill>
                  <a:srgbClr val="E9F1EC">
                    <a:alpha val="55000"/>
                  </a:srgbClr>
                </a:solidFill>
                <a:latin typeface="Microsoft YaHei"/>
                <a:ea typeface="Microsoft YaHei"/>
              </a:rPr>
              <a:t>一次处理</a:t>
            </a:r>
            <a:r>
              <a:rPr lang="en-US" sz="1275">
                <a:solidFill>
                  <a:srgbClr val="E9F1EC">
                    <a:alpha val="55000"/>
                  </a:srgbClr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>
                <a:solidFill>
                  <a:srgbClr val="E9F1EC">
                    <a:alpha val="55000"/>
                  </a:srgbClr>
                </a:solidFill>
                <a:latin typeface="Microsoft YaHei"/>
                <a:ea typeface="Microsoft YaHei"/>
              </a:rPr>
              <a:t>一个可截图的结果。</a:t>
            </a:r>
            <a:endParaRPr/>
          </a:p>
        </p:txBody>
      </p:sp>
      <p:sp>
        <p:nvSpPr>
          <p:cNvPr id="165" name=""/>
          <p:cNvSpPr/>
          <p:nvPr/>
        </p:nvSpPr>
        <p:spPr>
          <a:xfrm rot="0" flipH="0" flipV="0">
            <a:off x="685800" y="1200150"/>
            <a:ext cx="4000500" cy="4629150"/>
          </a:xfrm>
          <a:prstGeom prst="rect">
            <a:avLst/>
          </a:prstGeom>
          <a:ln w="12700">
            <a:solidFill>
              <a:srgbClr val="E9F1EC">
                <a:alpha val="1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166" name=""/>
          <p:cNvPicPr>
            <a:picLocks noChangeAspect="1"/>
          </p:cNvPicPr>
          <p:nvPr/>
        </p:nvPicPr>
        <p:blipFill>
          <a:blip r:embed="rId1"/>
          <a:srcRect l="0" t="991" r="0" b="991"/>
          <a:stretch>
            <a:fillRect/>
          </a:stretch>
        </p:blipFill>
        <p:spPr>
          <a:xfrm rot="0" flipH="0" flipV="0">
            <a:off x="685800" y="1200150"/>
            <a:ext cx="4000500" cy="4629150"/>
          </a:xfrm>
          <a:prstGeom prst="roundRect">
            <a:avLst>
              <a:gd name="adj" fmla="val 1429"/>
            </a:avLst>
          </a:prstGeom>
          <a:ln/>
        </p:spPr>
      </p:pic>
      <p:sp>
        <p:nvSpPr>
          <p:cNvPr id="167" name=""/>
          <p:cNvSpPr/>
          <p:nvPr/>
        </p:nvSpPr>
        <p:spPr>
          <a:xfrm rot="0" flipH="0" flipV="0">
            <a:off x="895350" y="4638675"/>
            <a:ext cx="3581400" cy="981075"/>
          </a:xfrm>
          <a:prstGeom prst="roundRect">
            <a:avLst>
              <a:gd name="adj" fmla="val 3883"/>
            </a:avLst>
          </a:prstGeom>
          <a:solidFill>
            <a:srgbClr val="0A0D0C">
              <a:alpha val="94000"/>
            </a:srgbClr>
          </a:solidFill>
          <a:ln w="12700">
            <a:solidFill>
              <a:srgbClr val="3DDC84">
                <a:alpha val="24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1028700" y="4772025"/>
            <a:ext cx="3314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75">
                <a:solidFill>
                  <a:srgbClr val="3DDC84"/>
                </a:solidFill>
                <a:latin typeface="Microsoft YaHei"/>
                <a:ea typeface="Microsoft YaHei"/>
              </a:rPr>
              <a:t>参数</a:t>
            </a:r>
            <a:r>
              <a:rPr lang="en-US" sz="900" spc="75">
                <a:solidFill>
                  <a:srgbClr val="3DDC84"/>
                </a:solidFill>
                <a:latin typeface="Microsoft YaHei"/>
                <a:ea typeface="Microsoft YaHei"/>
              </a:rPr>
              <a:t xml:space="preserve"> 50 / 55 / 60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1028700" y="4972050"/>
            <a:ext cx="33147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E9F1EC">
                    <a:alpha val="78000"/>
                  </a:srgbClr>
                </a:solidFill>
                <a:latin typeface="Microsoft YaHei"/>
                <a:ea typeface="Microsoft YaHei"/>
              </a:rPr>
              <a:t>存续指数</a:t>
            </a:r>
            <a:r>
              <a:rPr lang="en-US" sz="1050">
                <a:solidFill>
                  <a:srgbClr val="E9F1EC">
                    <a:alpha val="78000"/>
                  </a:srgbClr>
                </a:solidFill>
                <a:latin typeface="Microsoft YaHei"/>
                <a:ea typeface="Microsoft YaHei"/>
              </a:rPr>
              <a:t xml:space="preserve"> 57</a:t>
            </a:r>
            <a:r>
              <a:rPr lang="zh-CN" sz="1050">
                <a:solidFill>
                  <a:srgbClr val="E9F1EC">
                    <a:alpha val="78000"/>
                  </a:srgbClr>
                </a:solidFill>
                <a:latin typeface="Microsoft YaHei"/>
                <a:ea typeface="Microsoft YaHei"/>
              </a:rPr>
              <a:t>「摇摆文明」——同一输入必得同一输出，不讲随机。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6629400" y="1200150"/>
            <a:ext cx="23526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9F1EC">
                    <a:alpha val="40000"/>
                  </a:srgbClr>
                </a:solidFill>
                <a:latin typeface="Microsoft YaHei"/>
                <a:ea typeface="Microsoft YaHei"/>
              </a:rPr>
              <a:t>三个随机抽到的词，五选一之后留下的那个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5029200" y="3924300"/>
            <a:ext cx="64770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E9F1EC">
                    <a:alpha val="45000"/>
                  </a:srgbClr>
                </a:solidFill>
                <a:latin typeface="Microsoft YaHei"/>
                <a:ea typeface="Microsoft YaHei"/>
              </a:rPr>
              <a:t>另外四个方案被砍的原因很一致：要么需要多页结构，要么需要登录，要么得赌现场的真实数据接口——</a:t>
            </a:r>
            <a:r>
              <a:rPr lang="en-US" sz="1125">
                <a:solidFill>
                  <a:srgbClr val="E9F1EC">
                    <a:alpha val="45000"/>
                  </a:srgbClr>
                </a:solidFill>
                <a:latin typeface="Microsoft YaHei"/>
                <a:ea typeface="Microsoft YaHei"/>
              </a:rPr>
              <a:t xml:space="preserve">90 </a:t>
            </a:r>
            <a:r>
              <a:rPr lang="zh-CN" sz="1125">
                <a:solidFill>
                  <a:srgbClr val="E9F1EC">
                    <a:alpha val="45000"/>
                  </a:srgbClr>
                </a:solidFill>
                <a:latin typeface="Microsoft YaHei"/>
                <a:ea typeface="Microsoft YaHei"/>
              </a:rPr>
              <a:t>分钟内做不完，也演不稳。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5029200" y="5676900"/>
            <a:ext cx="1733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9F1EC">
                    <a:alpha val="50000"/>
                  </a:srgbClr>
                </a:solidFill>
                <a:latin typeface="Microsoft YaHei"/>
                <a:ea typeface="Microsoft YaHei"/>
              </a:rPr>
              <a:t>参数预生成，静态版零后端可演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7029450" y="5676900"/>
            <a:ext cx="1990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9F1EC">
                    <a:alpha val="50000"/>
                  </a:srgbClr>
                </a:solidFill>
                <a:latin typeface="Microsoft YaHei"/>
                <a:ea typeface="Microsoft YaHei"/>
              </a:rPr>
              <a:t>分支概率恒等于</a:t>
            </a:r>
            <a:r>
              <a:rPr lang="en-US" sz="975">
                <a:solidFill>
                  <a:srgbClr val="E9F1EC">
                    <a:alpha val="50000"/>
                  </a:srgbClr>
                </a:solidFill>
                <a:latin typeface="Microsoft YaHei"/>
                <a:ea typeface="Microsoft YaHei"/>
              </a:rPr>
              <a:t xml:space="preserve"> 100</a:t>
            </a:r>
            <a:r>
              <a:rPr lang="zh-CN" sz="975">
                <a:solidFill>
                  <a:srgbClr val="E9F1EC">
                    <a:alpha val="50000"/>
                  </a:srgbClr>
                </a:solidFill>
                <a:latin typeface="Microsoft YaHei"/>
                <a:ea typeface="Microsoft YaHei"/>
              </a:rPr>
              <a:t>，纯函数可复现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685800" y="5934075"/>
            <a:ext cx="16287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E9F1EC">
                    <a:alpha val="38000"/>
                  </a:srgbClr>
                </a:solidFill>
                <a:latin typeface="Microsoft YaHei"/>
                <a:ea typeface="Microsoft YaHei"/>
              </a:rPr>
              <a:t xml:space="preserve">TRAE </a:t>
            </a:r>
            <a:r>
              <a:rPr lang="zh-CN" sz="900">
                <a:solidFill>
                  <a:srgbClr val="E9F1EC">
                    <a:alpha val="38000"/>
                  </a:srgbClr>
                </a:solidFill>
                <a:latin typeface="Microsoft YaHei"/>
                <a:ea typeface="Microsoft YaHei"/>
              </a:rPr>
              <a:t>高效开发实战</a:t>
            </a:r>
            <a:r>
              <a:rPr lang="en-US" sz="900">
                <a:solidFill>
                  <a:srgbClr val="E9F1EC">
                    <a:alpha val="38000"/>
                  </a:srgbClr>
                </a:solidFill>
                <a:latin typeface="Microsoft YaHei"/>
                <a:ea typeface="Microsoft YaHei"/>
              </a:rPr>
              <a:t xml:space="preserve"> · 1024 </a:t>
            </a:r>
            <a:r>
              <a:rPr lang="zh-CN" sz="900">
                <a:solidFill>
                  <a:srgbClr val="E9F1EC">
                    <a:alpha val="38000"/>
                  </a:srgbClr>
                </a:solidFill>
                <a:latin typeface="Microsoft YaHei"/>
                <a:ea typeface="Microsoft YaHei"/>
              </a:rPr>
              <a:t>济宁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11115675" y="593407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E9F1EC">
                    <a:alpha val="38000"/>
                  </a:srgbClr>
                </a:solidFill>
                <a:latin typeface="Microsoft YaHei"/>
                <a:ea typeface="Microsoft YaHei"/>
              </a:rPr>
              <a:t>03 / 11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D0C"/>
          </a:solidFill>
          <a:ln/>
        </p:spPr>
        <p:txBody>
          <a:bodyPr/>
          <a:p>
            <a:pPr/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685800" y="38100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 spc="38">
                <a:solidFill>
                  <a:srgbClr val="E9F1EC"/>
                </a:solidFill>
                <a:latin typeface="Microsoft YaHei"/>
                <a:ea typeface="Microsoft YaHei"/>
              </a:rPr>
              <a:t>先写</a:t>
            </a:r>
            <a:r>
              <a:rPr lang="en-US" sz="2550" b="1" spc="38">
                <a:solidFill>
                  <a:srgbClr val="E9F1EC"/>
                </a:solidFill>
                <a:latin typeface="Microsoft YaHei"/>
                <a:ea typeface="Microsoft YaHei"/>
              </a:rPr>
              <a:t xml:space="preserve"> 60 </a:t>
            </a:r>
            <a:r>
              <a:rPr lang="zh-CN" sz="2550" b="1" spc="38">
                <a:solidFill>
                  <a:srgbClr val="E9F1EC"/>
                </a:solidFill>
                <a:latin typeface="Microsoft YaHei"/>
                <a:ea typeface="Microsoft YaHei"/>
              </a:rPr>
              <a:t>秒脚本，再写第一行代码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685800" y="1352550"/>
            <a:ext cx="866775" cy="1066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3DDC84"/>
                </a:solidFill>
                <a:latin typeface="Microsoft YaHei"/>
                <a:ea typeface="Microsoft YaHei"/>
              </a:rPr>
              <a:t>0–10s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1743075" y="1352550"/>
            <a:ext cx="48101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9F1EC"/>
                </a:solidFill>
                <a:latin typeface="Microsoft YaHei"/>
                <a:ea typeface="Microsoft YaHei"/>
              </a:rPr>
              <a:t>谁的问题，一句人话</a:t>
            </a:r>
            <a:endParaRPr/>
          </a:p>
        </p:txBody>
      </p:sp>
      <p:sp>
        <p:nvSpPr>
          <p:cNvPr id="181" name=""/>
          <p:cNvSpPr/>
          <p:nvPr/>
        </p:nvSpPr>
        <p:spPr>
          <a:xfrm rot="0" flipH="0" flipV="0">
            <a:off x="685800" y="2476500"/>
            <a:ext cx="5867400" cy="9525"/>
          </a:xfrm>
          <a:prstGeom prst="rect">
            <a:avLst/>
          </a:prstGeom>
          <a:solidFill>
            <a:srgbClr val="E9F1EC">
              <a:alpha val="9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685800" y="2543175"/>
            <a:ext cx="857250" cy="1066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3DDC84"/>
                </a:solidFill>
                <a:latin typeface="Microsoft YaHei"/>
                <a:ea typeface="Microsoft YaHei"/>
              </a:rPr>
              <a:t>10–40s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1733550" y="2543175"/>
            <a:ext cx="48196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9F1EC"/>
                </a:solidFill>
                <a:latin typeface="Microsoft YaHei"/>
                <a:ea typeface="Microsoft YaHei"/>
              </a:rPr>
              <a:t>现场点一次，别讲截图</a:t>
            </a:r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685800" y="3667125"/>
            <a:ext cx="5867400" cy="9525"/>
          </a:xfrm>
          <a:prstGeom prst="rect">
            <a:avLst/>
          </a:prstGeom>
          <a:solidFill>
            <a:srgbClr val="E9F1EC">
              <a:alpha val="9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685800" y="3733800"/>
            <a:ext cx="781050" cy="1066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3DDC84"/>
                </a:solidFill>
                <a:latin typeface="Microsoft YaHei"/>
                <a:ea typeface="Microsoft YaHei"/>
              </a:rPr>
              <a:t>40–55s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1657350" y="3733800"/>
            <a:ext cx="4895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9F1EC"/>
                </a:solidFill>
                <a:latin typeface="Microsoft YaHei"/>
                <a:ea typeface="Microsoft YaHei"/>
              </a:rPr>
              <a:t>技术只用一句话</a:t>
            </a:r>
            <a:endParaRPr/>
          </a:p>
        </p:txBody>
      </p:sp>
      <p:sp>
        <p:nvSpPr>
          <p:cNvPr id="187" name=""/>
          <p:cNvSpPr/>
          <p:nvPr/>
        </p:nvSpPr>
        <p:spPr>
          <a:xfrm rot="0" flipH="0" flipV="0">
            <a:off x="685800" y="4857750"/>
            <a:ext cx="5867400" cy="9525"/>
          </a:xfrm>
          <a:prstGeom prst="rect">
            <a:avLst/>
          </a:prstGeom>
          <a:solidFill>
            <a:srgbClr val="E9F1EC">
              <a:alpha val="9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685800" y="4924425"/>
            <a:ext cx="876300" cy="1066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3DDC84"/>
                </a:solidFill>
                <a:latin typeface="Microsoft YaHei"/>
                <a:ea typeface="Microsoft YaHei"/>
              </a:rPr>
              <a:t>55–60s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1752600" y="4924425"/>
            <a:ext cx="44291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9F1EC"/>
                </a:solidFill>
                <a:latin typeface="Microsoft YaHei"/>
                <a:ea typeface="Microsoft YaHei"/>
              </a:rPr>
              <a:t>下一步，一句话留钩子</a:t>
            </a:r>
            <a:endParaRPr/>
          </a:p>
        </p:txBody>
      </p:sp>
      <p:sp>
        <p:nvSpPr>
          <p:cNvPr id="190" name=""/>
          <p:cNvSpPr/>
          <p:nvPr/>
        </p:nvSpPr>
        <p:spPr>
          <a:xfrm rot="0" flipH="0" flipV="0">
            <a:off x="6934200" y="1390650"/>
            <a:ext cx="38100" cy="152400"/>
          </a:xfrm>
          <a:prstGeom prst="rect">
            <a:avLst/>
          </a:prstGeom>
          <a:solidFill>
            <a:srgbClr val="3DDC84"/>
          </a:solidFill>
          <a:ln/>
        </p:spPr>
        <p:txBody>
          <a:bodyPr/>
          <a:p>
            <a:pPr/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7067550" y="1390650"/>
            <a:ext cx="1143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150">
                <a:solidFill>
                  <a:srgbClr val="3DDC84"/>
                </a:solidFill>
                <a:latin typeface="Microsoft YaHei"/>
                <a:ea typeface="Microsoft YaHei"/>
              </a:rPr>
              <a:t>只做三个界面状态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6934200" y="1695450"/>
            <a:ext cx="4572000" cy="1266825"/>
          </a:xfrm>
          <a:prstGeom prst="roundRect">
            <a:avLst>
              <a:gd name="adj" fmla="val 3008"/>
            </a:avLst>
          </a:prstGeom>
          <a:solidFill>
            <a:srgbClr val="1A2620"/>
          </a:solidFill>
          <a:ln w="12700">
            <a:solidFill>
              <a:srgbClr val="E9F1EC">
                <a:alpha val="1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7086600" y="2057400"/>
            <a:ext cx="4267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9F1EC"/>
                </a:solidFill>
                <a:latin typeface="Microsoft YaHei"/>
                <a:ea typeface="Microsoft YaHei"/>
              </a:rPr>
              <a:t>初始态</a:t>
            </a:r>
            <a:endParaRPr/>
          </a:p>
        </p:txBody>
      </p:sp>
      <p:sp>
        <p:nvSpPr>
          <p:cNvPr id="194" name=""/>
          <p:cNvSpPr/>
          <p:nvPr/>
        </p:nvSpPr>
        <p:spPr>
          <a:xfrm rot="0" flipH="0" flipV="0">
            <a:off x="6934200" y="3076575"/>
            <a:ext cx="4572000" cy="1524000"/>
          </a:xfrm>
          <a:prstGeom prst="roundRect">
            <a:avLst>
              <a:gd name="adj" fmla="val 2500"/>
            </a:avLst>
          </a:prstGeom>
          <a:solidFill>
            <a:srgbClr val="1A2620"/>
          </a:solidFill>
          <a:ln w="12700">
            <a:solidFill>
              <a:srgbClr val="E9F1EC">
                <a:alpha val="1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7086600" y="3429000"/>
            <a:ext cx="4267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9F1EC"/>
                </a:solidFill>
                <a:latin typeface="Microsoft YaHei"/>
                <a:ea typeface="Microsoft YaHei"/>
              </a:rPr>
              <a:t>处理中</a:t>
            </a:r>
            <a:endParaRPr/>
          </a:p>
        </p:txBody>
      </p:sp>
      <p:sp>
        <p:nvSpPr>
          <p:cNvPr id="196" name=""/>
          <p:cNvSpPr/>
          <p:nvPr/>
        </p:nvSpPr>
        <p:spPr>
          <a:xfrm rot="0" flipH="0" flipV="0">
            <a:off x="6934200" y="4714875"/>
            <a:ext cx="4572000" cy="1266825"/>
          </a:xfrm>
          <a:prstGeom prst="roundRect">
            <a:avLst>
              <a:gd name="adj" fmla="val 3008"/>
            </a:avLst>
          </a:prstGeom>
          <a:solidFill>
            <a:srgbClr val="1A2620"/>
          </a:solidFill>
          <a:ln w="12700">
            <a:solidFill>
              <a:srgbClr val="3DDC84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7086600" y="5076825"/>
            <a:ext cx="4267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3DDC84"/>
                </a:solidFill>
                <a:latin typeface="Microsoft YaHei"/>
                <a:ea typeface="Microsoft YaHei"/>
              </a:rPr>
              <a:t>结果态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685800" y="866775"/>
            <a:ext cx="10820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9F1EC">
                    <a:alpha val="55000"/>
                  </a:srgbClr>
                </a:solidFill>
                <a:latin typeface="Microsoft YaHei"/>
                <a:ea typeface="Microsoft YaHei"/>
              </a:rPr>
              <a:t>脚本不是文案，是需求文档：它决定了哪些界面状态必须存在，哪些功能根本不用做。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1743075" y="1647825"/>
            <a:ext cx="481012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E9F1EC">
                    <a:alpha val="60000"/>
                  </a:srgbClr>
                </a:solidFill>
                <a:latin typeface="Microsoft YaHei"/>
                <a:ea typeface="Microsoft YaHei"/>
              </a:rPr>
              <a:t>把三个旋钮交给程序，推演</a:t>
            </a:r>
            <a:r>
              <a:rPr lang="en-US" sz="1125">
                <a:solidFill>
                  <a:srgbClr val="E9F1EC">
                    <a:alpha val="60000"/>
                  </a:srgbClr>
                </a:solidFill>
                <a:latin typeface="Microsoft YaHei"/>
                <a:ea typeface="Microsoft YaHei"/>
              </a:rPr>
              <a:t xml:space="preserve"> 2100 </a:t>
            </a:r>
            <a:r>
              <a:rPr lang="zh-CN" sz="1125">
                <a:solidFill>
                  <a:srgbClr val="E9F1EC">
                    <a:alpha val="60000"/>
                  </a:srgbClr>
                </a:solidFill>
                <a:latin typeface="Microsoft YaHei"/>
                <a:ea typeface="Microsoft YaHei"/>
              </a:rPr>
              <a:t>年的人类还有几种活法。不需要背景介绍。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1733550" y="2838450"/>
            <a:ext cx="48196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E9F1EC">
                    <a:alpha val="60000"/>
                  </a:srgbClr>
                </a:solidFill>
                <a:latin typeface="Microsoft YaHei"/>
                <a:ea typeface="Microsoft YaHei"/>
              </a:rPr>
              <a:t>拖三个滑块，点「推演</a:t>
            </a:r>
            <a:r>
              <a:rPr lang="en-US" sz="1125">
                <a:solidFill>
                  <a:srgbClr val="E9F1EC">
                    <a:alpha val="60000"/>
                  </a:srgbClr>
                </a:solidFill>
                <a:latin typeface="Microsoft YaHei"/>
                <a:ea typeface="Microsoft YaHei"/>
              </a:rPr>
              <a:t xml:space="preserve"> 2100</a:t>
            </a:r>
            <a:r>
              <a:rPr lang="zh-CN" sz="1125">
                <a:solidFill>
                  <a:srgbClr val="E9F1EC">
                    <a:alpha val="60000"/>
                  </a:srgbClr>
                </a:solidFill>
                <a:latin typeface="Microsoft YaHei"/>
                <a:ea typeface="Microsoft YaHei"/>
              </a:rPr>
              <a:t>」，屏幕上必须长出指数、三条分支和一封回信。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1657350" y="4029075"/>
            <a:ext cx="48958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E9F1EC">
                    <a:alpha val="60000"/>
                  </a:srgbClr>
                </a:solidFill>
                <a:latin typeface="Microsoft YaHei"/>
                <a:ea typeface="Microsoft YaHei"/>
              </a:rPr>
              <a:t>逻辑用光明写成纯函数，传输层是薄壳，静态版直接查表——够评委判断含金量就行。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1752600" y="5219700"/>
            <a:ext cx="4429125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E9F1EC">
                    <a:alpha val="60000"/>
                  </a:srgbClr>
                </a:solidFill>
                <a:latin typeface="Microsoft YaHei"/>
                <a:ea typeface="Microsoft YaHei"/>
              </a:rPr>
              <a:t>参数表已经铺满</a:t>
            </a:r>
            <a:r>
              <a:rPr lang="en-US" sz="1125">
                <a:solidFill>
                  <a:srgbClr val="E9F1EC">
                    <a:alpha val="60000"/>
                  </a:srgbClr>
                </a:solidFill>
                <a:latin typeface="Microsoft YaHei"/>
                <a:ea typeface="Microsoft YaHei"/>
              </a:rPr>
              <a:t xml:space="preserve"> 1331 </a:t>
            </a:r>
            <a:r>
              <a:rPr lang="zh-CN" sz="1125">
                <a:solidFill>
                  <a:srgbClr val="E9F1EC">
                    <a:alpha val="60000"/>
                  </a:srgbClr>
                </a:solidFill>
                <a:latin typeface="Microsoft YaHei"/>
                <a:ea typeface="Microsoft YaHei"/>
              </a:rPr>
              <a:t>组，下一步让每个人都能查到自己那一格未来。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7086600" y="2343150"/>
            <a:ext cx="4267200" cy="2667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13">
                <a:solidFill>
                  <a:srgbClr val="E9F1EC">
                    <a:alpha val="60000"/>
                  </a:srgbClr>
                </a:solidFill>
                <a:latin typeface="Microsoft YaHei"/>
                <a:ea typeface="Microsoft YaHei"/>
              </a:rPr>
              <a:t>滑块停在默认值，右侧留一块「未推演」的空面板——空态不能是白屏。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7086600" y="3714750"/>
            <a:ext cx="42672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13">
                <a:solidFill>
                  <a:srgbClr val="E9F1EC">
                    <a:alpha val="60000"/>
                  </a:srgbClr>
                </a:solidFill>
                <a:latin typeface="Microsoft YaHei"/>
                <a:ea typeface="Microsoft YaHei"/>
              </a:rPr>
              <a:t>按钮变「推演中」，</a:t>
            </a:r>
            <a:r>
              <a:rPr lang="en-US" sz="1013">
                <a:solidFill>
                  <a:srgbClr val="E9F1EC">
                    <a:alpha val="60000"/>
                  </a:srgbClr>
                </a:solidFill>
                <a:latin typeface="Microsoft YaHei"/>
                <a:ea typeface="Microsoft YaHei"/>
              </a:rPr>
              <a:t xml:space="preserve">2.5 </a:t>
            </a:r>
            <a:r>
              <a:rPr lang="zh-CN" sz="1013">
                <a:solidFill>
                  <a:srgbClr val="E9F1EC">
                    <a:alpha val="60000"/>
                  </a:srgbClr>
                </a:solidFill>
                <a:latin typeface="Microsoft YaHei"/>
                <a:ea typeface="Microsoft YaHei"/>
              </a:rPr>
              <a:t>秒超时后自动走本地兜底，状态栏标注「本地兜底」。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7086600" y="5362575"/>
            <a:ext cx="4267200" cy="2667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13">
                <a:solidFill>
                  <a:srgbClr val="E9F1EC">
                    <a:alpha val="60000"/>
                  </a:srgbClr>
                </a:solidFill>
                <a:latin typeface="Microsoft YaHei"/>
                <a:ea typeface="Microsoft YaHei"/>
              </a:rPr>
              <a:t>指数、三条分支、三个转折点、一封回信，右下角留「再来一次」。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685800" y="6086475"/>
            <a:ext cx="16287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E9F1EC">
                    <a:alpha val="38000"/>
                  </a:srgbClr>
                </a:solidFill>
                <a:latin typeface="Microsoft YaHei"/>
                <a:ea typeface="Microsoft YaHei"/>
              </a:rPr>
              <a:t xml:space="preserve">TRAE </a:t>
            </a:r>
            <a:r>
              <a:rPr lang="zh-CN" sz="900">
                <a:solidFill>
                  <a:srgbClr val="E9F1EC">
                    <a:alpha val="38000"/>
                  </a:srgbClr>
                </a:solidFill>
                <a:latin typeface="Microsoft YaHei"/>
                <a:ea typeface="Microsoft YaHei"/>
              </a:rPr>
              <a:t>高效开发实战</a:t>
            </a:r>
            <a:r>
              <a:rPr lang="en-US" sz="900">
                <a:solidFill>
                  <a:srgbClr val="E9F1EC">
                    <a:alpha val="38000"/>
                  </a:srgbClr>
                </a:solidFill>
                <a:latin typeface="Microsoft YaHei"/>
                <a:ea typeface="Microsoft YaHei"/>
              </a:rPr>
              <a:t xml:space="preserve"> · 1024 </a:t>
            </a:r>
            <a:r>
              <a:rPr lang="zh-CN" sz="900">
                <a:solidFill>
                  <a:srgbClr val="E9F1EC">
                    <a:alpha val="38000"/>
                  </a:srgbClr>
                </a:solidFill>
                <a:latin typeface="Microsoft YaHei"/>
                <a:ea typeface="Microsoft YaHei"/>
              </a:rPr>
              <a:t>济宁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11115675" y="608647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E9F1EC">
                    <a:alpha val="38000"/>
                  </a:srgbClr>
                </a:solidFill>
                <a:latin typeface="Microsoft YaHei"/>
                <a:ea typeface="Microsoft YaHei"/>
              </a:rPr>
              <a:t>04 / 11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20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D0C"/>
          </a:solidFill>
          <a:ln/>
        </p:spPr>
        <p:txBody>
          <a:bodyPr/>
          <a:p>
            <a:pPr/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685800" y="38100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 spc="38">
                <a:solidFill>
                  <a:srgbClr val="E9F1EC"/>
                </a:solidFill>
                <a:latin typeface="Microsoft YaHei"/>
                <a:ea typeface="Microsoft YaHei"/>
              </a:rPr>
              <a:t xml:space="preserve">10 </a:t>
            </a:r>
            <a:r>
              <a:rPr lang="zh-CN" sz="2550" b="1" spc="38">
                <a:solidFill>
                  <a:srgbClr val="E9F1EC"/>
                </a:solidFill>
                <a:latin typeface="Microsoft YaHei"/>
                <a:ea typeface="Microsoft YaHei"/>
              </a:rPr>
              <a:t>分钟写死一份契约，省掉一整轮返工</a:t>
            </a:r>
            <a:endParaRPr/>
          </a:p>
        </p:txBody>
      </p:sp>
      <p:sp>
        <p:nvSpPr>
          <p:cNvPr id="211" name=""/>
          <p:cNvSpPr/>
          <p:nvPr/>
        </p:nvSpPr>
        <p:spPr>
          <a:xfrm rot="0" flipH="0" flipV="0">
            <a:off x="685800" y="1362075"/>
            <a:ext cx="38100" cy="133350"/>
          </a:xfrm>
          <a:prstGeom prst="rect">
            <a:avLst/>
          </a:prstGeom>
          <a:solidFill>
            <a:srgbClr val="3DDC84"/>
          </a:solidFill>
          <a:ln/>
        </p:spPr>
        <p:txBody>
          <a:bodyPr/>
          <a:p>
            <a:pPr/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800100" y="1352550"/>
            <a:ext cx="2847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150">
                <a:solidFill>
                  <a:srgbClr val="3DDC84"/>
                </a:solidFill>
                <a:latin typeface="Microsoft YaHei"/>
                <a:ea typeface="Microsoft YaHei"/>
              </a:rPr>
              <a:t>契约</a:t>
            </a:r>
            <a:r>
              <a:rPr lang="en-US" sz="975" spc="150">
                <a:solidFill>
                  <a:srgbClr val="3DDC84"/>
                </a:solidFill>
                <a:latin typeface="Microsoft YaHei"/>
                <a:ea typeface="Microsoft YaHei"/>
              </a:rPr>
              <a:t xml:space="preserve">.md · POST /api/simulate </a:t>
            </a:r>
            <a:r>
              <a:rPr lang="zh-CN" sz="975" spc="150">
                <a:solidFill>
                  <a:srgbClr val="3DDC84"/>
                </a:solidFill>
                <a:latin typeface="Microsoft YaHei"/>
                <a:ea typeface="Microsoft YaHei"/>
              </a:rPr>
              <a:t>的响应体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7029450" y="1352550"/>
            <a:ext cx="4476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E9F1EC"/>
                </a:solidFill>
                <a:latin typeface="Microsoft YaHei"/>
                <a:ea typeface="Microsoft YaHei"/>
              </a:rPr>
              <a:t xml:space="preserve">① </a:t>
            </a:r>
            <a:r>
              <a:rPr lang="zh-CN" sz="1125" b="1">
                <a:solidFill>
                  <a:srgbClr val="E9F1EC"/>
                </a:solidFill>
                <a:latin typeface="Microsoft YaHei"/>
                <a:ea typeface="Microsoft YaHei"/>
              </a:rPr>
              <a:t>字段名先死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7029450" y="2295525"/>
            <a:ext cx="4476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E9F1EC"/>
                </a:solidFill>
                <a:latin typeface="Microsoft YaHei"/>
                <a:ea typeface="Microsoft YaHei"/>
              </a:rPr>
              <a:t xml:space="preserve">② </a:t>
            </a:r>
            <a:r>
              <a:rPr lang="zh-CN" sz="1125" b="1">
                <a:solidFill>
                  <a:srgbClr val="E9F1EC"/>
                </a:solidFill>
                <a:latin typeface="Microsoft YaHei"/>
                <a:ea typeface="Microsoft YaHei"/>
              </a:rPr>
              <a:t>签名先死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7029450" y="3238500"/>
            <a:ext cx="4476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E9F1EC"/>
                </a:solidFill>
                <a:latin typeface="Microsoft YaHei"/>
                <a:ea typeface="Microsoft YaHei"/>
              </a:rPr>
              <a:t xml:space="preserve">③ </a:t>
            </a:r>
            <a:r>
              <a:rPr lang="zh-CN" sz="1125" b="1">
                <a:solidFill>
                  <a:srgbClr val="E9F1EC"/>
                </a:solidFill>
                <a:latin typeface="Microsoft YaHei"/>
                <a:ea typeface="Microsoft YaHei"/>
              </a:rPr>
              <a:t>边界先死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7029450" y="4181475"/>
            <a:ext cx="4476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3DDC84"/>
                </a:solidFill>
                <a:latin typeface="Microsoft YaHei"/>
                <a:ea typeface="Microsoft YaHei"/>
              </a:rPr>
              <a:t xml:space="preserve">④ </a:t>
            </a:r>
            <a:r>
              <a:rPr lang="zh-CN" sz="1125" b="1">
                <a:solidFill>
                  <a:srgbClr val="3DDC84"/>
                </a:solidFill>
                <a:latin typeface="Microsoft YaHei"/>
                <a:ea typeface="Microsoft YaHei"/>
              </a:rPr>
              <a:t>所有权先死</a:t>
            </a:r>
            <a:endParaRPr/>
          </a:p>
        </p:txBody>
      </p:sp>
      <p:graphicFrame>
        <p:nvGraphicFramePr>
          <p:cNvPr id="217" name=""/>
          <p:cNvGraphicFramePr/>
          <p:nvPr/>
        </p:nvGraphicFramePr>
        <p:xfrm rot="0" flipH="0" flipV="0">
          <a:off x="685800" y="4838700"/>
          <a:ext cx="10820400" cy="1143000"/>
        </p:xfrm>
        <a:graphic>
          <a:graphicData uri="http://schemas.openxmlformats.org/drawingml/2006/table">
            <a:tbl>
              <a:tblGrid>
                <a:gridCol w="1530299">
                  <a:extLst>
                    <a:ext uri="{9D8B030D-6E8A-4147-A177-3AD203B41FA5}">
                      <a16:colId val="1"/>
                    </a:ext>
                  </a:extLst>
                </a:gridCol>
                <a:gridCol w="3836228">
                  <a:extLst>
                    <a:ext uri="{9D8B030D-6E8A-4147-A177-3AD203B41FA5}">
                      <a16:colId val="2"/>
                    </a:ext>
                  </a:extLst>
                </a:gridCol>
                <a:gridCol w="1076100">
                  <a:extLst>
                    <a:ext uri="{9D8B030D-6E8A-4147-A177-3AD203B41FA5}">
                      <a16:colId val="3"/>
                    </a:ext>
                  </a:extLst>
                </a:gridCol>
                <a:gridCol w="4377772">
                  <a:extLst>
                    <a:ext uri="{9D8B030D-6E8A-4147-A177-3AD203B41FA5}">
                      <a16:colId val="4"/>
                    </a:ext>
                  </a:extLst>
                </a:gridCol>
              </a:tblGrid>
              <a:tr h="2857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3DDC84"/>
                          </a:solidFill>
                          <a:latin typeface="Microsoft YaHei"/>
                          <a:ea typeface="Microsoft YaHei"/>
                        </a:rPr>
                        <a:t>文件所有权表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620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E9F1EC"/>
                          </a:solidFill>
                          <a:latin typeface="Microsoft YaHei"/>
                          <a:ea typeface="Microsoft YaHei"/>
                        </a:rPr>
                        <a:t>负责文件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620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E9F1EC"/>
                          </a:solidFill>
                          <a:latin typeface="Microsoft YaHei"/>
                          <a:ea typeface="Microsoft YaHei"/>
                        </a:rPr>
                        <a:t>禁止修改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620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E9F1EC"/>
                          </a:solidFill>
                          <a:latin typeface="Microsoft YaHei"/>
                          <a:ea typeface="Microsoft YaHei"/>
                        </a:rPr>
                        <a:t>交付标准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620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2857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E9F1EC"/>
                          </a:solidFill>
                          <a:latin typeface="Microsoft YaHei"/>
                          <a:ea typeface="Microsoft YaHei"/>
                        </a:rPr>
                        <a:t>A 引擎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512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9F1EC"/>
                          </a:solidFill>
                          <a:latin typeface="Microsoft YaHei"/>
                          <a:ea typeface="Microsoft YaHei"/>
                        </a:rPr>
                        <a:t>引擎.light、自测.light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512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9F1EC">
                              <a:alpha val="45000"/>
                            </a:srgbClr>
                          </a:solidFill>
                          <a:latin typeface="Microsoft YaHei"/>
                          <a:ea typeface="Microsoft YaHei"/>
                        </a:rPr>
                        <a:t>其他全部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512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9F1EC"/>
                          </a:solidFill>
                          <a:latin typeface="Microsoft YaHei"/>
                          <a:ea typeface="Microsoft YaHei"/>
                        </a:rPr>
                        <a:t>light check 通过，三组自测概率合计 100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512"/>
                    </a:solidFill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2857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E9F1EC"/>
                          </a:solidFill>
                          <a:latin typeface="Microsoft YaHei"/>
                          <a:ea typeface="Microsoft YaHei"/>
                        </a:rPr>
                        <a:t>B 服务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B17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9F1EC"/>
                          </a:solidFill>
                          <a:latin typeface="Microsoft YaHei"/>
                          <a:ea typeface="Microsoft YaHei"/>
                        </a:rPr>
                        <a:t>主.light → server.py 薄壳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B17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9F1EC">
                              <a:alpha val="45000"/>
                            </a:srgbClr>
                          </a:solidFill>
                          <a:latin typeface="Microsoft YaHei"/>
                          <a:ea typeface="Microsoft YaHei"/>
                        </a:rPr>
                        <a:t>其他全部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B17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9F1EC"/>
                          </a:solidFill>
                          <a:latin typeface="Microsoft YaHei"/>
                          <a:ea typeface="Microsoft YaHei"/>
                        </a:rPr>
                        <a:t>curl 一次拿到与契约一致的 JSON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B17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2857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E9F1EC"/>
                          </a:solidFill>
                          <a:latin typeface="Microsoft YaHei"/>
                          <a:ea typeface="Microsoft YaHei"/>
                        </a:rPr>
                        <a:t>C 前端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512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9F1EC"/>
                          </a:solidFill>
                          <a:latin typeface="Microsoft YaHei"/>
                          <a:ea typeface="Microsoft YaHei"/>
                        </a:rPr>
                        <a:t>web/index.html、style.css、app.js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512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9F1EC">
                              <a:alpha val="45000"/>
                            </a:srgbClr>
                          </a:solidFill>
                          <a:latin typeface="Microsoft YaHei"/>
                          <a:ea typeface="Microsoft YaHei"/>
                        </a:rPr>
                        <a:t>其他全部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512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9F1EC"/>
                          </a:solidFill>
                          <a:latin typeface="Microsoft YaHei"/>
                          <a:ea typeface="Microsoft YaHei"/>
                        </a:rPr>
                        <a:t>三态齐全，成功态与错误态均有截图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512"/>
                    </a:solidFill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</a:tbl>
          </a:graphicData>
        </a:graphic>
      </p:graphicFrame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685800" y="866775"/>
            <a:ext cx="10820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9F1EC">
                    <a:alpha val="55000"/>
                  </a:srgbClr>
                </a:solidFill>
                <a:latin typeface="Microsoft YaHei"/>
                <a:ea typeface="Microsoft YaHei"/>
              </a:rPr>
              <a:t>并行之前，先让三条线对同一份</a:t>
            </a:r>
            <a:r>
              <a:rPr lang="en-US" sz="1275">
                <a:solidFill>
                  <a:srgbClr val="E9F1EC">
                    <a:alpha val="55000"/>
                  </a:srgbClr>
                </a:solidFill>
                <a:latin typeface="Microsoft YaHei"/>
                <a:ea typeface="Microsoft YaHei"/>
              </a:rPr>
              <a:t xml:space="preserve"> JSON </a:t>
            </a:r>
            <a:r>
              <a:rPr lang="zh-CN" sz="1275">
                <a:solidFill>
                  <a:srgbClr val="E9F1EC">
                    <a:alpha val="55000"/>
                  </a:srgbClr>
                </a:solidFill>
                <a:latin typeface="Microsoft YaHei"/>
                <a:ea typeface="Microsoft YaHei"/>
              </a:rPr>
              <a:t>达成一致——这是唯一值得在开工前花的</a:t>
            </a:r>
            <a:r>
              <a:rPr lang="en-US" sz="1275">
                <a:solidFill>
                  <a:srgbClr val="E9F1EC">
                    <a:alpha val="55000"/>
                  </a:srgbClr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275">
                <a:solidFill>
                  <a:srgbClr val="E9F1EC">
                    <a:alpha val="55000"/>
                  </a:srgbClr>
                </a:solidFill>
                <a:latin typeface="Microsoft YaHei"/>
                <a:ea typeface="Microsoft YaHei"/>
              </a:rPr>
              <a:t>分钟。</a:t>
            </a:r>
            <a:endParaRPr/>
          </a:p>
        </p:txBody>
      </p:sp>
      <p:sp>
        <p:nvSpPr>
          <p:cNvPr id="219" name=""/>
          <p:cNvSpPr/>
          <p:nvPr/>
        </p:nvSpPr>
        <p:spPr>
          <a:xfrm rot="0" flipH="0" flipV="0">
            <a:off x="685800" y="1600200"/>
            <a:ext cx="6096000" cy="2962275"/>
          </a:xfrm>
          <a:prstGeom prst="roundRect">
            <a:avLst>
              <a:gd name="adj" fmla="val 2572"/>
            </a:avLst>
          </a:prstGeom>
          <a:solidFill>
            <a:srgbClr val="0E1116"/>
          </a:solidFill>
          <a:ln/>
        </p:spPr>
        <p:txBody>
          <a:bodyPr/>
          <a:p>
            <a:pPr/>
            <a:endParaRPr/>
          </a:p>
        </p:txBody>
      </p:sp>
      <p:sp>
        <p:nvSpPr>
          <p:cNvPr id="220" name=""/>
          <p:cNvSpPr txBox="1"/>
          <p:nvPr/>
        </p:nvSpPr>
        <p:spPr>
          <a:xfrm rot="0" flipH="0" flipV="0">
            <a:off x="838200" y="1924050"/>
            <a:ext cx="5791200" cy="2505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>{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"存续指数"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: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71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"判定"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: 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>"稳态文明"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"一句话"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: 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>"人类没有赢过机器，也没有输给它。"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"分支"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>: [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   {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"名称"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: 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>"共生纪元"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,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"概率"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: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41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,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"描述"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: 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>"…"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,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"信号"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: 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>"…"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},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   {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"名称"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: 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>"算法温室"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,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"概率"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: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33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,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"描述"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: 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>"…"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,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"信号"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: 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>"…"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},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   {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"名称"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: 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>"断裂带"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,  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"概率"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: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26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,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"描述"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: 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>"…"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,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"信号"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: 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>"…"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}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 ],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"转折点"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>: [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>"2031 · …"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, 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>"2047 · …"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, 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>"2074 · …"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>],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"回信"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: 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>"我是 2100 年的人类。…"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>}</a:t>
            </a:r>
            <a:endParaRPr/>
          </a:p>
        </p:txBody>
      </p:sp>
      <p:sp>
        <p:nvSpPr>
          <p:cNvPr id="221" name=""/>
          <p:cNvSpPr/>
          <p:nvPr/>
        </p:nvSpPr>
        <p:spPr>
          <a:xfrm rot="0" flipH="0" flipV="0">
            <a:off x="819150" y="1714500"/>
            <a:ext cx="76200" cy="7620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>
            <a:pPr/>
            <a:endParaRPr/>
          </a:p>
        </p:txBody>
      </p:sp>
      <p:sp>
        <p:nvSpPr>
          <p:cNvPr id="222" name=""/>
          <p:cNvSpPr/>
          <p:nvPr/>
        </p:nvSpPr>
        <p:spPr>
          <a:xfrm rot="0" flipH="0" flipV="0">
            <a:off x="952500" y="1714500"/>
            <a:ext cx="76200" cy="7620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>
            <a:pPr/>
            <a:endParaRPr/>
          </a:p>
        </p:txBody>
      </p:sp>
      <p:sp>
        <p:nvSpPr>
          <p:cNvPr id="223" name=""/>
          <p:cNvSpPr/>
          <p:nvPr/>
        </p:nvSpPr>
        <p:spPr>
          <a:xfrm rot="0" flipH="0" flipV="0">
            <a:off x="1085850" y="1714500"/>
            <a:ext cx="76200" cy="7620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>
            <a:pPr/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7029450" y="1581150"/>
            <a:ext cx="4476750" cy="25717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013">
                <a:solidFill>
                  <a:srgbClr val="E9F1EC">
                    <a:alpha val="58000"/>
                  </a:srgbClr>
                </a:solidFill>
                <a:latin typeface="Microsoft YaHei"/>
                <a:ea typeface="Microsoft YaHei"/>
              </a:rPr>
              <a:t>中文键名照抄前端，不翻译、不缩写。翻译一次，三边各错一次。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7029450" y="2524125"/>
            <a:ext cx="4476750" cy="25717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013">
                <a:solidFill>
                  <a:srgbClr val="E9F1EC">
                    <a:alpha val="58000"/>
                  </a:srgbClr>
                </a:solidFill>
                <a:latin typeface="Microsoft YaHei"/>
                <a:ea typeface="Microsoft YaHei"/>
              </a:rPr>
              <a:t>推演</a:t>
            </a:r>
            <a:r>
              <a:rPr lang="en-US" sz="1013">
                <a:solidFill>
                  <a:srgbClr val="E9F1EC">
                    <a:alpha val="58000"/>
                  </a:srgbClr>
                </a:solidFill>
                <a:latin typeface="Microsoft YaHei"/>
                <a:ea typeface="Microsoft YaHei"/>
              </a:rPr>
              <a:t>(</a:t>
            </a:r>
            <a:r>
              <a:rPr lang="zh-CN" sz="1013">
                <a:solidFill>
                  <a:srgbClr val="E9F1EC">
                    <a:alpha val="58000"/>
                  </a:srgbClr>
                </a:solidFill>
                <a:latin typeface="Microsoft YaHei"/>
                <a:ea typeface="Microsoft YaHei"/>
              </a:rPr>
              <a:t>技术</a:t>
            </a:r>
            <a:r>
              <a:rPr lang="en-US" sz="1013">
                <a:solidFill>
                  <a:srgbClr val="E9F1EC">
                    <a:alpha val="58000"/>
                  </a:srgbClr>
                </a:solidFill>
                <a:latin typeface="Microsoft YaHei"/>
                <a:ea typeface="Microsoft YaHei"/>
              </a:rPr>
              <a:t xml:space="preserve">, </a:t>
            </a:r>
            <a:r>
              <a:rPr lang="zh-CN" sz="1013">
                <a:solidFill>
                  <a:srgbClr val="E9F1EC">
                    <a:alpha val="58000"/>
                  </a:srgbClr>
                </a:solidFill>
                <a:latin typeface="Microsoft YaHei"/>
                <a:ea typeface="Microsoft YaHei"/>
              </a:rPr>
              <a:t>共情</a:t>
            </a:r>
            <a:r>
              <a:rPr lang="en-US" sz="1013">
                <a:solidFill>
                  <a:srgbClr val="E9F1EC">
                    <a:alpha val="58000"/>
                  </a:srgbClr>
                </a:solidFill>
                <a:latin typeface="Microsoft YaHei"/>
                <a:ea typeface="Microsoft YaHei"/>
              </a:rPr>
              <a:t xml:space="preserve">, </a:t>
            </a:r>
            <a:r>
              <a:rPr lang="zh-CN" sz="1013">
                <a:solidFill>
                  <a:srgbClr val="E9F1EC">
                    <a:alpha val="58000"/>
                  </a:srgbClr>
                </a:solidFill>
                <a:latin typeface="Microsoft YaHei"/>
                <a:ea typeface="Microsoft YaHei"/>
              </a:rPr>
              <a:t>选择</a:t>
            </a:r>
            <a:r>
              <a:rPr lang="en-US" sz="1013">
                <a:solidFill>
                  <a:srgbClr val="E9F1EC">
                    <a:alpha val="58000"/>
                  </a:srgbClr>
                </a:solidFill>
                <a:latin typeface="Microsoft YaHei"/>
                <a:ea typeface="Microsoft YaHei"/>
              </a:rPr>
              <a:t xml:space="preserve">) → </a:t>
            </a:r>
            <a:r>
              <a:rPr lang="zh-CN" sz="1013">
                <a:solidFill>
                  <a:srgbClr val="E9F1EC">
                    <a:alpha val="58000"/>
                  </a:srgbClr>
                </a:solidFill>
                <a:latin typeface="Microsoft YaHei"/>
                <a:ea typeface="Microsoft YaHei"/>
              </a:rPr>
              <a:t>字典，返回键与</a:t>
            </a:r>
            <a:r>
              <a:rPr lang="en-US" sz="1013">
                <a:solidFill>
                  <a:srgbClr val="E9F1EC">
                    <a:alpha val="58000"/>
                  </a:srgbClr>
                </a:solidFill>
                <a:latin typeface="Microsoft YaHei"/>
                <a:ea typeface="Microsoft YaHei"/>
              </a:rPr>
              <a:t xml:space="preserve"> JSON </a:t>
            </a:r>
            <a:r>
              <a:rPr lang="zh-CN" sz="1013">
                <a:solidFill>
                  <a:srgbClr val="E9F1EC">
                    <a:alpha val="58000"/>
                  </a:srgbClr>
                </a:solidFill>
                <a:latin typeface="Microsoft YaHei"/>
                <a:ea typeface="Microsoft YaHei"/>
              </a:rPr>
              <a:t>完全一致，多一个都不行。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7029450" y="3467100"/>
            <a:ext cx="4476750" cy="25717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013">
                <a:solidFill>
                  <a:srgbClr val="E9F1EC">
                    <a:alpha val="58000"/>
                  </a:srgbClr>
                </a:solidFill>
                <a:latin typeface="Microsoft YaHei"/>
                <a:ea typeface="Microsoft YaHei"/>
              </a:rPr>
              <a:t>概率合计恒为</a:t>
            </a:r>
            <a:r>
              <a:rPr lang="en-US" sz="1013">
                <a:solidFill>
                  <a:srgbClr val="E9F1EC">
                    <a:alpha val="58000"/>
                  </a:srgbClr>
                </a:solidFill>
                <a:latin typeface="Microsoft YaHei"/>
                <a:ea typeface="Microsoft YaHei"/>
              </a:rPr>
              <a:t xml:space="preserve"> 100</a:t>
            </a:r>
            <a:r>
              <a:rPr lang="zh-CN" sz="1013">
                <a:solidFill>
                  <a:srgbClr val="E9F1EC">
                    <a:alpha val="58000"/>
                  </a:srgbClr>
                </a:solidFill>
                <a:latin typeface="Microsoft YaHei"/>
                <a:ea typeface="Microsoft YaHei"/>
              </a:rPr>
              <a:t>、分支固定</a:t>
            </a:r>
            <a:r>
              <a:rPr lang="en-US" sz="1013">
                <a:solidFill>
                  <a:srgbClr val="E9F1EC">
                    <a:alpha val="58000"/>
                  </a:srgbClr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013">
                <a:solidFill>
                  <a:srgbClr val="E9F1EC">
                    <a:alpha val="58000"/>
                  </a:srgbClr>
                </a:solidFill>
                <a:latin typeface="Microsoft YaHei"/>
                <a:ea typeface="Microsoft YaHei"/>
              </a:rPr>
              <a:t>条、回信</a:t>
            </a:r>
            <a:r>
              <a:rPr lang="en-US" sz="1013">
                <a:solidFill>
                  <a:srgbClr val="E9F1EC">
                    <a:alpha val="58000"/>
                  </a:srgbClr>
                </a:solidFill>
                <a:latin typeface="Microsoft YaHei"/>
                <a:ea typeface="Microsoft YaHei"/>
              </a:rPr>
              <a:t xml:space="preserve"> 60 </a:t>
            </a:r>
            <a:r>
              <a:rPr lang="zh-CN" sz="1013">
                <a:solidFill>
                  <a:srgbClr val="E9F1EC">
                    <a:alpha val="58000"/>
                  </a:srgbClr>
                </a:solidFill>
                <a:latin typeface="Microsoft YaHei"/>
                <a:ea typeface="Microsoft YaHei"/>
              </a:rPr>
              <a:t>字以内、同输入必得同输出。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7029450" y="4410075"/>
            <a:ext cx="4476750" cy="25717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013">
                <a:solidFill>
                  <a:srgbClr val="E9F1EC">
                    <a:alpha val="58000"/>
                  </a:srgbClr>
                </a:solidFill>
                <a:latin typeface="Microsoft YaHei"/>
                <a:ea typeface="Microsoft YaHei"/>
              </a:rPr>
              <a:t>一个文件只有一个负责人；冲突靠切分避免，不靠合并解决。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685800" y="6086475"/>
            <a:ext cx="16287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E9F1EC">
                    <a:alpha val="38000"/>
                  </a:srgbClr>
                </a:solidFill>
                <a:latin typeface="Microsoft YaHei"/>
                <a:ea typeface="Microsoft YaHei"/>
              </a:rPr>
              <a:t xml:space="preserve">TRAE </a:t>
            </a:r>
            <a:r>
              <a:rPr lang="zh-CN" sz="900">
                <a:solidFill>
                  <a:srgbClr val="E9F1EC">
                    <a:alpha val="38000"/>
                  </a:srgbClr>
                </a:solidFill>
                <a:latin typeface="Microsoft YaHei"/>
                <a:ea typeface="Microsoft YaHei"/>
              </a:rPr>
              <a:t>高效开发实战</a:t>
            </a:r>
            <a:r>
              <a:rPr lang="en-US" sz="900">
                <a:solidFill>
                  <a:srgbClr val="E9F1EC">
                    <a:alpha val="38000"/>
                  </a:srgbClr>
                </a:solidFill>
                <a:latin typeface="Microsoft YaHei"/>
                <a:ea typeface="Microsoft YaHei"/>
              </a:rPr>
              <a:t xml:space="preserve"> · 1024 </a:t>
            </a:r>
            <a:r>
              <a:rPr lang="zh-CN" sz="900">
                <a:solidFill>
                  <a:srgbClr val="E9F1EC">
                    <a:alpha val="38000"/>
                  </a:srgbClr>
                </a:solidFill>
                <a:latin typeface="Microsoft YaHei"/>
                <a:ea typeface="Microsoft YaHei"/>
              </a:rPr>
              <a:t>济宁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11115675" y="608647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E9F1EC">
                    <a:alpha val="38000"/>
                  </a:srgbClr>
                </a:solidFill>
                <a:latin typeface="Microsoft YaHei"/>
                <a:ea typeface="Microsoft YaHei"/>
              </a:rPr>
              <a:t>05 / 11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D0C"/>
          </a:solidFill>
          <a:ln/>
        </p:spPr>
        <p:txBody>
          <a:bodyPr/>
          <a:p>
            <a:pPr/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685800" y="38100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 spc="38">
                <a:solidFill>
                  <a:srgbClr val="E9F1EC"/>
                </a:solidFill>
                <a:latin typeface="Microsoft YaHei"/>
                <a:ea typeface="Microsoft YaHei"/>
              </a:rPr>
              <a:t>并行靠的是文件所有权，不是多开几个会话</a:t>
            </a:r>
            <a:endParaRPr/>
          </a:p>
        </p:txBody>
      </p:sp>
      <p:sp>
        <p:nvSpPr>
          <p:cNvPr id="233" name=""/>
          <p:cNvSpPr/>
          <p:nvPr/>
        </p:nvSpPr>
        <p:spPr>
          <a:xfrm rot="0" flipH="0" flipV="0">
            <a:off x="685800" y="1352550"/>
            <a:ext cx="10820400" cy="438150"/>
          </a:xfrm>
          <a:prstGeom prst="roundRect">
            <a:avLst>
              <a:gd name="adj" fmla="val 8696"/>
            </a:avLst>
          </a:prstGeom>
          <a:solidFill>
            <a:srgbClr val="3DDC84">
              <a:alpha val="10000"/>
            </a:srgbClr>
          </a:solidFill>
          <a:ln w="12700">
            <a:solidFill>
              <a:srgbClr val="3DDC84">
                <a:alpha val="28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3686175" y="1485900"/>
            <a:ext cx="561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3DDC84"/>
                </a:solidFill>
                <a:latin typeface="Microsoft YaHei"/>
                <a:ea typeface="Microsoft YaHei"/>
              </a:rPr>
              <a:t>契约</a:t>
            </a:r>
            <a:r>
              <a:rPr lang="en-US" sz="1125" b="1">
                <a:solidFill>
                  <a:srgbClr val="3DDC84"/>
                </a:solidFill>
                <a:latin typeface="Microsoft YaHei"/>
                <a:ea typeface="Microsoft YaHei"/>
              </a:rPr>
              <a:t>.md</a:t>
            </a:r>
            <a:endParaRPr/>
          </a:p>
        </p:txBody>
      </p:sp>
      <p:sp>
        <p:nvSpPr>
          <p:cNvPr id="235" name=""/>
          <p:cNvSpPr/>
          <p:nvPr/>
        </p:nvSpPr>
        <p:spPr>
          <a:xfrm rot="0" flipH="0" flipV="0">
            <a:off x="2409825" y="1790700"/>
            <a:ext cx="9525" cy="171450"/>
          </a:xfrm>
          <a:prstGeom prst="rect">
            <a:avLst/>
          </a:prstGeom>
          <a:solidFill>
            <a:srgbClr val="3DDC84">
              <a:alpha val="3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36" name=""/>
          <p:cNvSpPr/>
          <p:nvPr/>
        </p:nvSpPr>
        <p:spPr>
          <a:xfrm rot="0" flipH="0" flipV="0">
            <a:off x="685800" y="1962150"/>
            <a:ext cx="3448050" cy="2590800"/>
          </a:xfrm>
          <a:prstGeom prst="roundRect">
            <a:avLst>
              <a:gd name="adj" fmla="val 1471"/>
            </a:avLst>
          </a:prstGeom>
          <a:solidFill>
            <a:srgbClr val="1A2620"/>
          </a:solidFill>
          <a:ln w="12700">
            <a:solidFill>
              <a:srgbClr val="E9F1EC">
                <a:alpha val="1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857250" y="2171700"/>
            <a:ext cx="104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3DDC84"/>
                </a:solidFill>
                <a:latin typeface="Microsoft YaHei"/>
                <a:ea typeface="Microsoft YaHei"/>
              </a:rPr>
              <a:t>A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1057275" y="2133600"/>
            <a:ext cx="9239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9F1EC"/>
                </a:solidFill>
                <a:latin typeface="Microsoft YaHei"/>
                <a:ea typeface="Microsoft YaHei"/>
              </a:rPr>
              <a:t>逻辑</a:t>
            </a:r>
            <a:r>
              <a:rPr lang="en-US" sz="1425" b="1">
                <a:solidFill>
                  <a:srgbClr val="E9F1EC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425" b="1">
                <a:solidFill>
                  <a:srgbClr val="E9F1EC"/>
                </a:solidFill>
                <a:latin typeface="Microsoft YaHei"/>
                <a:ea typeface="Microsoft YaHei"/>
              </a:rPr>
              <a:t>数据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857250" y="4238625"/>
            <a:ext cx="31051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3DDC84"/>
                </a:solidFill>
                <a:latin typeface="Microsoft YaHei"/>
                <a:ea typeface="Microsoft YaHei"/>
              </a:rPr>
              <a:t>交付：</a:t>
            </a:r>
            <a:r>
              <a:rPr lang="en-US" sz="938">
                <a:solidFill>
                  <a:srgbClr val="3DDC84"/>
                </a:solidFill>
                <a:latin typeface="Microsoft YaHei"/>
                <a:ea typeface="Microsoft YaHei"/>
              </a:rPr>
              <a:t xml:space="preserve">light check </a:t>
            </a:r>
            <a:r>
              <a:rPr lang="zh-CN" sz="938">
                <a:solidFill>
                  <a:srgbClr val="3DDC84"/>
                </a:solidFill>
                <a:latin typeface="Microsoft YaHei"/>
                <a:ea typeface="Microsoft YaHei"/>
              </a:rPr>
              <a:t>通过</a:t>
            </a:r>
            <a:r>
              <a:rPr lang="en-US" sz="938">
                <a:solidFill>
                  <a:srgbClr val="3DDC84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38">
                <a:solidFill>
                  <a:srgbClr val="3DDC84"/>
                </a:solidFill>
                <a:latin typeface="Microsoft YaHei"/>
                <a:ea typeface="Microsoft YaHei"/>
              </a:rPr>
              <a:t>三组自测</a:t>
            </a:r>
            <a:endParaRPr/>
          </a:p>
        </p:txBody>
      </p:sp>
      <p:sp>
        <p:nvSpPr>
          <p:cNvPr id="240" name=""/>
          <p:cNvSpPr/>
          <p:nvPr/>
        </p:nvSpPr>
        <p:spPr>
          <a:xfrm rot="0" flipH="0" flipV="0">
            <a:off x="6086475" y="1790700"/>
            <a:ext cx="9525" cy="171450"/>
          </a:xfrm>
          <a:prstGeom prst="rect">
            <a:avLst/>
          </a:prstGeom>
          <a:solidFill>
            <a:srgbClr val="3DDC84">
              <a:alpha val="5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41" name=""/>
          <p:cNvSpPr/>
          <p:nvPr/>
        </p:nvSpPr>
        <p:spPr>
          <a:xfrm rot="0" flipH="0" flipV="0">
            <a:off x="4362450" y="1962150"/>
            <a:ext cx="3448050" cy="2590800"/>
          </a:xfrm>
          <a:prstGeom prst="roundRect">
            <a:avLst>
              <a:gd name="adj" fmla="val 1471"/>
            </a:avLst>
          </a:prstGeom>
          <a:solidFill>
            <a:srgbClr val="1A2620"/>
          </a:solidFill>
          <a:ln w="12700">
            <a:solidFill>
              <a:srgbClr val="3DDC84">
                <a:alpha val="24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4533900" y="2171700"/>
            <a:ext cx="95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3DDC84"/>
                </a:solidFill>
                <a:latin typeface="Microsoft YaHei"/>
                <a:ea typeface="Microsoft YaHei"/>
              </a:rPr>
              <a:t>B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4724400" y="2133600"/>
            <a:ext cx="9239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9F1EC"/>
                </a:solidFill>
                <a:latin typeface="Microsoft YaHei"/>
                <a:ea typeface="Microsoft YaHei"/>
              </a:rPr>
              <a:t>服务</a:t>
            </a:r>
            <a:r>
              <a:rPr lang="en-US" sz="1425" b="1">
                <a:solidFill>
                  <a:srgbClr val="E9F1EC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425" b="1">
                <a:solidFill>
                  <a:srgbClr val="E9F1EC"/>
                </a:solidFill>
                <a:latin typeface="Microsoft YaHei"/>
                <a:ea typeface="Microsoft YaHei"/>
              </a:rPr>
              <a:t>接口</a:t>
            </a:r>
            <a:endParaRPr/>
          </a:p>
        </p:txBody>
      </p:sp>
      <p:sp>
        <p:nvSpPr>
          <p:cNvPr id="244" name=""/>
          <p:cNvSpPr/>
          <p:nvPr/>
        </p:nvSpPr>
        <p:spPr>
          <a:xfrm rot="0" flipH="0" flipV="0">
            <a:off x="5743575" y="2162175"/>
            <a:ext cx="571500" cy="171450"/>
          </a:xfrm>
          <a:prstGeom prst="roundRect">
            <a:avLst>
              <a:gd name="adj" fmla="val 16667"/>
            </a:avLst>
          </a:prstGeom>
          <a:ln w="12700">
            <a:solidFill>
              <a:srgbClr val="3DDC84">
                <a:alpha val="3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5819775" y="2181225"/>
            <a:ext cx="4191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3DDC84"/>
                </a:solidFill>
                <a:latin typeface="Microsoft YaHei"/>
                <a:ea typeface="Microsoft YaHei"/>
              </a:rPr>
              <a:t>中途改道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4533900" y="4238625"/>
            <a:ext cx="31051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3DDC84"/>
                </a:solidFill>
                <a:latin typeface="Microsoft YaHei"/>
                <a:ea typeface="Microsoft YaHei"/>
              </a:rPr>
              <a:t>交付：</a:t>
            </a:r>
            <a:r>
              <a:rPr lang="en-US" sz="938">
                <a:solidFill>
                  <a:srgbClr val="3DDC84"/>
                </a:solidFill>
                <a:latin typeface="Microsoft YaHei"/>
                <a:ea typeface="Microsoft YaHei"/>
              </a:rPr>
              <a:t xml:space="preserve">curl </a:t>
            </a:r>
            <a:r>
              <a:rPr lang="zh-CN" sz="938">
                <a:solidFill>
                  <a:srgbClr val="3DDC84"/>
                </a:solidFill>
                <a:latin typeface="Microsoft YaHei"/>
                <a:ea typeface="Microsoft YaHei"/>
              </a:rPr>
              <a:t>拿到与契约一致的</a:t>
            </a:r>
            <a:r>
              <a:rPr lang="en-US" sz="938">
                <a:solidFill>
                  <a:srgbClr val="3DDC84"/>
                </a:solidFill>
                <a:latin typeface="Microsoft YaHei"/>
                <a:ea typeface="Microsoft YaHei"/>
              </a:rPr>
              <a:t xml:space="preserve"> JSON</a:t>
            </a:r>
            <a:endParaRPr/>
          </a:p>
        </p:txBody>
      </p:sp>
      <p:sp>
        <p:nvSpPr>
          <p:cNvPr id="247" name=""/>
          <p:cNvSpPr/>
          <p:nvPr/>
        </p:nvSpPr>
        <p:spPr>
          <a:xfrm rot="0" flipH="0" flipV="0">
            <a:off x="9763125" y="1790700"/>
            <a:ext cx="9525" cy="171450"/>
          </a:xfrm>
          <a:prstGeom prst="rect">
            <a:avLst/>
          </a:prstGeom>
          <a:solidFill>
            <a:srgbClr val="3DDC84">
              <a:alpha val="3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48" name=""/>
          <p:cNvSpPr/>
          <p:nvPr/>
        </p:nvSpPr>
        <p:spPr>
          <a:xfrm rot="0" flipH="0" flipV="0">
            <a:off x="8039100" y="1962150"/>
            <a:ext cx="3448050" cy="2590800"/>
          </a:xfrm>
          <a:prstGeom prst="roundRect">
            <a:avLst>
              <a:gd name="adj" fmla="val 1471"/>
            </a:avLst>
          </a:prstGeom>
          <a:solidFill>
            <a:srgbClr val="1A2620"/>
          </a:solidFill>
          <a:ln w="12700">
            <a:solidFill>
              <a:srgbClr val="E9F1EC">
                <a:alpha val="1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8210550" y="2171700"/>
            <a:ext cx="95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3DDC84"/>
                </a:solidFill>
                <a:latin typeface="Microsoft YaHei"/>
                <a:ea typeface="Microsoft YaHei"/>
              </a:rPr>
              <a:t>C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8401050" y="2133600"/>
            <a:ext cx="9239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9F1EC"/>
                </a:solidFill>
                <a:latin typeface="Microsoft YaHei"/>
                <a:ea typeface="Microsoft YaHei"/>
              </a:rPr>
              <a:t>界面</a:t>
            </a:r>
            <a:r>
              <a:rPr lang="en-US" sz="1425" b="1">
                <a:solidFill>
                  <a:srgbClr val="E9F1EC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425" b="1">
                <a:solidFill>
                  <a:srgbClr val="E9F1EC"/>
                </a:solidFill>
                <a:latin typeface="Microsoft YaHei"/>
                <a:ea typeface="Microsoft YaHei"/>
              </a:rPr>
              <a:t>外壳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8210550" y="4238625"/>
            <a:ext cx="31051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3DDC84"/>
                </a:solidFill>
                <a:latin typeface="Microsoft YaHei"/>
                <a:ea typeface="Microsoft YaHei"/>
              </a:rPr>
              <a:t>交付：成功态与错误态各一张无头截图</a:t>
            </a:r>
            <a:endParaRPr/>
          </a:p>
        </p:txBody>
      </p:sp>
      <p:pic>
        <p:nvPicPr>
          <p:cNvPr id="25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447800" y="4895850"/>
            <a:ext cx="104775" cy="104775"/>
          </a:xfrm>
          <a:prstGeom prst="rect">
            <a:avLst/>
          </a:prstGeom>
          <a:ln/>
        </p:spPr>
      </p:pic>
      <p:pic>
        <p:nvPicPr>
          <p:cNvPr id="25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086100" y="4895850"/>
            <a:ext cx="104775" cy="104775"/>
          </a:xfrm>
          <a:prstGeom prst="rect">
            <a:avLst/>
          </a:prstGeom>
          <a:ln/>
        </p:spPr>
      </p:pic>
      <p:pic>
        <p:nvPicPr>
          <p:cNvPr id="25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305300" y="4895850"/>
            <a:ext cx="104775" cy="104775"/>
          </a:xfrm>
          <a:prstGeom prst="rect">
            <a:avLst/>
          </a:prstGeom>
          <a:ln/>
        </p:spPr>
      </p:pic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9867900" y="4867275"/>
            <a:ext cx="1638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3DDC84"/>
                </a:solidFill>
                <a:latin typeface="Microsoft YaHei"/>
                <a:ea typeface="Microsoft YaHei"/>
              </a:rPr>
              <a:t xml:space="preserve">B </a:t>
            </a:r>
            <a:r>
              <a:rPr lang="zh-CN" sz="975">
                <a:solidFill>
                  <a:srgbClr val="3DDC84"/>
                </a:solidFill>
                <a:latin typeface="Microsoft YaHei"/>
                <a:ea typeface="Microsoft YaHei"/>
              </a:rPr>
              <a:t>线改道，</a:t>
            </a:r>
            <a:r>
              <a:rPr lang="en-US" sz="975">
                <a:solidFill>
                  <a:srgbClr val="3DDC84"/>
                </a:solidFill>
                <a:latin typeface="Microsoft YaHei"/>
                <a:ea typeface="Microsoft YaHei"/>
              </a:rPr>
              <a:t xml:space="preserve">A </a:t>
            </a:r>
            <a:r>
              <a:rPr lang="zh-CN" sz="975">
                <a:solidFill>
                  <a:srgbClr val="3DDC84"/>
                </a:solidFill>
                <a:latin typeface="Microsoft YaHei"/>
                <a:ea typeface="Microsoft YaHei"/>
              </a:rPr>
              <a:t>与</a:t>
            </a:r>
            <a:r>
              <a:rPr lang="en-US" sz="975">
                <a:solidFill>
                  <a:srgbClr val="3DDC84"/>
                </a:solidFill>
                <a:latin typeface="Microsoft YaHei"/>
                <a:ea typeface="Microsoft YaHei"/>
              </a:rPr>
              <a:t xml:space="preserve"> C </a:t>
            </a:r>
            <a:r>
              <a:rPr lang="zh-CN" sz="975">
                <a:solidFill>
                  <a:srgbClr val="3DDC84"/>
                </a:solidFill>
                <a:latin typeface="Microsoft YaHei"/>
                <a:ea typeface="Microsoft YaHei"/>
              </a:rPr>
              <a:t>一行没返工</a:t>
            </a:r>
            <a:endParaRPr/>
          </a:p>
        </p:txBody>
      </p:sp>
      <p:sp>
        <p:nvSpPr>
          <p:cNvPr id="256" name=""/>
          <p:cNvSpPr/>
          <p:nvPr/>
        </p:nvSpPr>
        <p:spPr>
          <a:xfrm rot="0" flipH="0" flipV="0">
            <a:off x="685800" y="5562600"/>
            <a:ext cx="10820400" cy="419100"/>
          </a:xfrm>
          <a:prstGeom prst="roundRect">
            <a:avLst>
              <a:gd name="adj" fmla="val 9091"/>
            </a:avLst>
          </a:prstGeom>
          <a:solidFill>
            <a:srgbClr val="E9F1EC">
              <a:alpha val="3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57" name=""/>
          <p:cNvSpPr/>
          <p:nvPr/>
        </p:nvSpPr>
        <p:spPr>
          <a:xfrm rot="0" flipH="0" flipV="0">
            <a:off x="838200" y="5686425"/>
            <a:ext cx="19050" cy="171450"/>
          </a:xfrm>
          <a:prstGeom prst="rect">
            <a:avLst/>
          </a:prstGeom>
          <a:solidFill>
            <a:srgbClr val="3DDC84"/>
          </a:solidFill>
          <a:ln/>
        </p:spPr>
        <p:txBody>
          <a:bodyPr/>
          <a:p>
            <a:pPr/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685800" y="866775"/>
            <a:ext cx="10820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9F1EC">
                    <a:alpha val="55000"/>
                  </a:srgbClr>
                </a:solidFill>
                <a:latin typeface="Microsoft YaHei"/>
                <a:ea typeface="Microsoft YaHei"/>
              </a:rPr>
              <a:t>三条线同时开工、彼此只见契约；集成者不参与并行编码，时间全留给合并和修边界。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4381500" y="1495425"/>
            <a:ext cx="41243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9F1EC">
                    <a:alpha val="60000"/>
                  </a:srgbClr>
                </a:solidFill>
                <a:latin typeface="Microsoft YaHei"/>
                <a:ea typeface="Microsoft YaHei"/>
              </a:rPr>
              <a:t>字段名</a:t>
            </a:r>
            <a:r>
              <a:rPr lang="en-US" sz="975">
                <a:solidFill>
                  <a:srgbClr val="E9F1EC">
                    <a:alpha val="60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E9F1EC">
                    <a:alpha val="60000"/>
                  </a:srgbClr>
                </a:solidFill>
                <a:latin typeface="Microsoft YaHei"/>
                <a:ea typeface="Microsoft YaHei"/>
              </a:rPr>
              <a:t>函数签名</a:t>
            </a:r>
            <a:r>
              <a:rPr lang="en-US" sz="975">
                <a:solidFill>
                  <a:srgbClr val="E9F1EC">
                    <a:alpha val="60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E9F1EC">
                    <a:alpha val="60000"/>
                  </a:srgbClr>
                </a:solidFill>
                <a:latin typeface="Microsoft YaHei"/>
                <a:ea typeface="Microsoft YaHei"/>
              </a:rPr>
              <a:t>接口路径</a:t>
            </a:r>
            <a:r>
              <a:rPr lang="en-US" sz="975">
                <a:solidFill>
                  <a:srgbClr val="E9F1EC">
                    <a:alpha val="60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E9F1EC">
                    <a:alpha val="60000"/>
                  </a:srgbClr>
                </a:solidFill>
                <a:latin typeface="Microsoft YaHei"/>
                <a:ea typeface="Microsoft YaHei"/>
              </a:rPr>
              <a:t>文件所有权表</a:t>
            </a:r>
            <a:r>
              <a:rPr lang="en-US" sz="975">
                <a:solidFill>
                  <a:srgbClr val="E9F1EC">
                    <a:alpha val="60000"/>
                  </a:srgbClr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975">
                <a:solidFill>
                  <a:srgbClr val="E9F1EC">
                    <a:alpha val="60000"/>
                  </a:srgbClr>
                </a:solidFill>
                <a:latin typeface="Microsoft YaHei"/>
                <a:ea typeface="Microsoft YaHei"/>
              </a:rPr>
              <a:t>开工后冻结，谁都不许改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857250" y="2447925"/>
            <a:ext cx="31051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E9F1EC">
                    <a:alpha val="45000"/>
                  </a:srgbClr>
                </a:solidFill>
                <a:latin typeface="Microsoft YaHei"/>
                <a:ea typeface="Microsoft YaHei"/>
              </a:rPr>
              <a:t>引擎</a:t>
            </a:r>
            <a:r>
              <a:rPr lang="en-US" sz="938">
                <a:solidFill>
                  <a:srgbClr val="E9F1EC">
                    <a:alpha val="45000"/>
                  </a:srgbClr>
                </a:solidFill>
                <a:latin typeface="Microsoft YaHei"/>
                <a:ea typeface="Microsoft YaHei"/>
              </a:rPr>
              <a:t xml:space="preserve">.light · </a:t>
            </a:r>
            <a:r>
              <a:rPr lang="zh-CN" sz="938">
                <a:solidFill>
                  <a:srgbClr val="E9F1EC">
                    <a:alpha val="45000"/>
                  </a:srgbClr>
                </a:solidFill>
                <a:latin typeface="Microsoft YaHei"/>
                <a:ea typeface="Microsoft YaHei"/>
              </a:rPr>
              <a:t>自测</a:t>
            </a:r>
            <a:r>
              <a:rPr lang="en-US" sz="938">
                <a:solidFill>
                  <a:srgbClr val="E9F1EC">
                    <a:alpha val="45000"/>
                  </a:srgbClr>
                </a:solidFill>
                <a:latin typeface="Microsoft YaHei"/>
                <a:ea typeface="Microsoft YaHei"/>
              </a:rPr>
              <a:t>.light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857250" y="2686050"/>
            <a:ext cx="31051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E9F1EC">
                    <a:alpha val="62000"/>
                  </a:srgbClr>
                </a:solidFill>
                <a:latin typeface="Microsoft YaHei"/>
                <a:ea typeface="Microsoft YaHei"/>
              </a:rPr>
              <a:t>存续指数、判定、三分支、转折点、回信，全部写成纯函数，不用随机数——同一输入必得同一输出。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4533900" y="2447925"/>
            <a:ext cx="31051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E9F1EC">
                    <a:alpha val="45000"/>
                  </a:srgbClr>
                </a:solidFill>
                <a:latin typeface="Microsoft YaHei"/>
                <a:ea typeface="Microsoft YaHei"/>
              </a:rPr>
              <a:t>主</a:t>
            </a:r>
            <a:r>
              <a:rPr lang="en-US" sz="938">
                <a:solidFill>
                  <a:srgbClr val="E9F1EC">
                    <a:alpha val="45000"/>
                  </a:srgbClr>
                </a:solidFill>
                <a:latin typeface="Microsoft YaHei"/>
                <a:ea typeface="Microsoft YaHei"/>
              </a:rPr>
              <a:t xml:space="preserve">.light → server.py </a:t>
            </a:r>
            <a:r>
              <a:rPr lang="zh-CN" sz="938">
                <a:solidFill>
                  <a:srgbClr val="E9F1EC">
                    <a:alpha val="45000"/>
                  </a:srgbClr>
                </a:solidFill>
                <a:latin typeface="Microsoft YaHei"/>
                <a:ea typeface="Microsoft YaHei"/>
              </a:rPr>
              <a:t>薄壳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4533900" y="2686050"/>
            <a:ext cx="3105150" cy="819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E9F1EC">
                    <a:alpha val="62000"/>
                  </a:srgbClr>
                </a:solidFill>
                <a:latin typeface="Microsoft YaHei"/>
                <a:ea typeface="Microsoft YaHei"/>
              </a:rPr>
              <a:t>原计划用</a:t>
            </a:r>
            <a:r>
              <a:rPr lang="en-US" sz="1050">
                <a:solidFill>
                  <a:srgbClr val="E9F1EC">
                    <a:alpha val="62000"/>
                  </a:srgbClr>
                </a:solidFill>
                <a:latin typeface="Microsoft YaHei"/>
                <a:ea typeface="Microsoft YaHei"/>
              </a:rPr>
              <a:t xml:space="preserve"> Light </a:t>
            </a:r>
            <a:r>
              <a:rPr lang="zh-CN" sz="1050">
                <a:solidFill>
                  <a:srgbClr val="E9F1EC">
                    <a:alpha val="62000"/>
                  </a:srgbClr>
                </a:solidFill>
                <a:latin typeface="Microsoft YaHei"/>
                <a:ea typeface="Microsoft YaHei"/>
              </a:rPr>
              <a:t>起</a:t>
            </a:r>
            <a:r>
              <a:rPr lang="en-US" sz="1050">
                <a:solidFill>
                  <a:srgbClr val="E9F1EC">
                    <a:alpha val="62000"/>
                  </a:srgbClr>
                </a:solidFill>
                <a:latin typeface="Microsoft YaHei"/>
                <a:ea typeface="Microsoft YaHei"/>
              </a:rPr>
              <a:t xml:space="preserve"> HTTP </a:t>
            </a:r>
            <a:r>
              <a:rPr lang="zh-CN" sz="1050">
                <a:solidFill>
                  <a:srgbClr val="E9F1EC">
                    <a:alpha val="62000"/>
                  </a:srgbClr>
                </a:solidFill>
                <a:latin typeface="Microsoft YaHei"/>
                <a:ea typeface="Microsoft YaHei"/>
              </a:rPr>
              <a:t>服务，实测工厂在运行时不可用，改成标准库薄壳：只做静态文件与转发，业务一行不进</a:t>
            </a:r>
            <a:r>
              <a:rPr lang="en-US" sz="1050">
                <a:solidFill>
                  <a:srgbClr val="E9F1EC">
                    <a:alpha val="62000"/>
                  </a:srgbClr>
                </a:solidFill>
                <a:latin typeface="Microsoft YaHei"/>
                <a:ea typeface="Microsoft YaHei"/>
              </a:rPr>
              <a:t xml:space="preserve"> Python</a:t>
            </a:r>
            <a:r>
              <a:rPr lang="zh-CN" sz="1050">
                <a:solidFill>
                  <a:srgbClr val="E9F1EC">
                    <a:alpha val="62000"/>
                  </a:srgbClr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8210550" y="2447925"/>
            <a:ext cx="31051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E9F1EC">
                    <a:alpha val="45000"/>
                  </a:srgbClr>
                </a:solidFill>
                <a:latin typeface="Microsoft YaHei"/>
                <a:ea typeface="Microsoft YaHei"/>
              </a:rPr>
              <a:t>web/index.html · style.css · app.js</a:t>
            </a:r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8210550" y="2686050"/>
            <a:ext cx="31051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E9F1EC">
                    <a:alpha val="62000"/>
                  </a:srgbClr>
                </a:solidFill>
                <a:latin typeface="Microsoft YaHei"/>
                <a:ea typeface="Microsoft YaHei"/>
              </a:rPr>
              <a:t>三态渲染、</a:t>
            </a:r>
            <a:r>
              <a:rPr lang="en-US" sz="1050">
                <a:solidFill>
                  <a:srgbClr val="E9F1EC">
                    <a:alpha val="62000"/>
                  </a:srgbClr>
                </a:solidFill>
                <a:latin typeface="Microsoft YaHei"/>
                <a:ea typeface="Microsoft YaHei"/>
              </a:rPr>
              <a:t xml:space="preserve">2.5 </a:t>
            </a:r>
            <a:r>
              <a:rPr lang="zh-CN" sz="1050">
                <a:solidFill>
                  <a:srgbClr val="E9F1EC">
                    <a:alpha val="62000"/>
                  </a:srgbClr>
                </a:solidFill>
                <a:latin typeface="Microsoft YaHei"/>
                <a:ea typeface="Microsoft YaHei"/>
              </a:rPr>
              <a:t>秒超时走本地兜底、原生无</a:t>
            </a:r>
            <a:r>
              <a:rPr lang="en-US" sz="1050">
                <a:solidFill>
                  <a:srgbClr val="E9F1EC">
                    <a:alpha val="62000"/>
                  </a:srgbClr>
                </a:solidFill>
                <a:latin typeface="Microsoft YaHei"/>
                <a:ea typeface="Microsoft YaHei"/>
              </a:rPr>
              <a:t xml:space="preserve"> CDN </a:t>
            </a:r>
            <a:r>
              <a:rPr lang="zh-CN" sz="1050">
                <a:solidFill>
                  <a:srgbClr val="E9F1EC">
                    <a:alpha val="62000"/>
                  </a:srgbClr>
                </a:solidFill>
                <a:latin typeface="Microsoft YaHei"/>
                <a:ea typeface="Microsoft YaHei"/>
              </a:rPr>
              <a:t>无构建——现场不装依赖也能打开。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685800" y="4867275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9F1EC">
                    <a:alpha val="40000"/>
                  </a:srgbClr>
                </a:solidFill>
                <a:latin typeface="Microsoft YaHei"/>
                <a:ea typeface="Microsoft YaHei"/>
              </a:rPr>
              <a:t>三条禁令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1628775" y="4867275"/>
            <a:ext cx="1190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E9F1EC">
                    <a:alpha val="68000"/>
                  </a:srgbClr>
                </a:solidFill>
                <a:latin typeface="Microsoft YaHei"/>
                <a:ea typeface="Microsoft YaHei"/>
              </a:rPr>
              <a:t>不并行跑</a:t>
            </a:r>
            <a:r>
              <a:rPr lang="en-US" sz="1013">
                <a:solidFill>
                  <a:srgbClr val="E9F1EC">
                    <a:alpha val="68000"/>
                  </a:srgbClr>
                </a:solidFill>
                <a:latin typeface="Microsoft YaHei"/>
                <a:ea typeface="Microsoft YaHei"/>
              </a:rPr>
              <a:t xml:space="preserve"> dev server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3267075" y="4867275"/>
            <a:ext cx="771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E9F1EC">
                    <a:alpha val="68000"/>
                  </a:srgbClr>
                </a:solidFill>
                <a:latin typeface="Microsoft YaHei"/>
                <a:ea typeface="Microsoft YaHei"/>
              </a:rPr>
              <a:t>不并行装依赖</a:t>
            </a:r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4486275" y="4867275"/>
            <a:ext cx="2895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E9F1EC">
                    <a:alpha val="68000"/>
                  </a:srgbClr>
                </a:solidFill>
                <a:latin typeface="Microsoft YaHei"/>
                <a:ea typeface="Microsoft YaHei"/>
              </a:rPr>
              <a:t>不并行改同一个文件（含</a:t>
            </a:r>
            <a:r>
              <a:rPr lang="en-US" sz="1013">
                <a:solidFill>
                  <a:srgbClr val="E9F1EC">
                    <a:alpha val="68000"/>
                  </a:srgbClr>
                </a:solidFill>
                <a:latin typeface="Microsoft YaHei"/>
                <a:ea typeface="Microsoft YaHei"/>
              </a:rPr>
              <a:t xml:space="preserve"> README</a:t>
            </a:r>
            <a:r>
              <a:rPr lang="zh-CN" sz="1013">
                <a:solidFill>
                  <a:srgbClr val="E9F1EC">
                    <a:alpha val="68000"/>
                  </a:srgbClr>
                </a:solidFill>
                <a:latin typeface="Microsoft YaHei"/>
                <a:ea typeface="Microsoft YaHei"/>
              </a:rPr>
              <a:t>、入口、配置）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971550" y="5695950"/>
            <a:ext cx="5905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9F1EC">
                    <a:alpha val="66000"/>
                  </a:srgbClr>
                </a:solidFill>
                <a:latin typeface="Microsoft YaHei"/>
                <a:ea typeface="Microsoft YaHei"/>
              </a:rPr>
              <a:t>集成者只改入口文件与共享样式，其余文件原样接收；合并后统一跑一次构建、开一次</a:t>
            </a:r>
            <a:r>
              <a:rPr lang="en-US" sz="1050">
                <a:solidFill>
                  <a:srgbClr val="E9F1EC">
                    <a:alpha val="66000"/>
                  </a:srgbClr>
                </a:solidFill>
                <a:latin typeface="Microsoft YaHei"/>
                <a:ea typeface="Microsoft YaHei"/>
              </a:rPr>
              <a:t xml:space="preserve"> dev server</a:t>
            </a:r>
            <a:r>
              <a:rPr lang="zh-CN" sz="1050">
                <a:solidFill>
                  <a:srgbClr val="E9F1EC">
                    <a:alpha val="66000"/>
                  </a:srgbClr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685800" y="6086475"/>
            <a:ext cx="16287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E9F1EC">
                    <a:alpha val="38000"/>
                  </a:srgbClr>
                </a:solidFill>
                <a:latin typeface="Microsoft YaHei"/>
                <a:ea typeface="Microsoft YaHei"/>
              </a:rPr>
              <a:t xml:space="preserve">TRAE </a:t>
            </a:r>
            <a:r>
              <a:rPr lang="zh-CN" sz="900">
                <a:solidFill>
                  <a:srgbClr val="E9F1EC">
                    <a:alpha val="38000"/>
                  </a:srgbClr>
                </a:solidFill>
                <a:latin typeface="Microsoft YaHei"/>
                <a:ea typeface="Microsoft YaHei"/>
              </a:rPr>
              <a:t>高效开发实战</a:t>
            </a:r>
            <a:r>
              <a:rPr lang="en-US" sz="900">
                <a:solidFill>
                  <a:srgbClr val="E9F1EC">
                    <a:alpha val="38000"/>
                  </a:srgbClr>
                </a:solidFill>
                <a:latin typeface="Microsoft YaHei"/>
                <a:ea typeface="Microsoft YaHei"/>
              </a:rPr>
              <a:t xml:space="preserve"> · 1024 </a:t>
            </a:r>
            <a:r>
              <a:rPr lang="zh-CN" sz="900">
                <a:solidFill>
                  <a:srgbClr val="E9F1EC">
                    <a:alpha val="38000"/>
                  </a:srgbClr>
                </a:solidFill>
                <a:latin typeface="Microsoft YaHei"/>
                <a:ea typeface="Microsoft YaHei"/>
              </a:rPr>
              <a:t>济宁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11115675" y="608647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E9F1EC">
                    <a:alpha val="38000"/>
                  </a:srgbClr>
                </a:solidFill>
                <a:latin typeface="Microsoft YaHei"/>
                <a:ea typeface="Microsoft YaHei"/>
              </a:rPr>
              <a:t>06 / 11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2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D0C"/>
          </a:solidFill>
          <a:ln/>
        </p:spPr>
        <p:txBody>
          <a:bodyPr/>
          <a:p>
            <a:pPr/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685800" y="38100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 spc="38">
                <a:solidFill>
                  <a:srgbClr val="E9F1EC"/>
                </a:solidFill>
                <a:latin typeface="Microsoft YaHei"/>
                <a:ea typeface="Microsoft YaHei"/>
              </a:rPr>
              <a:t>并行到底快多少？两个数字，和它们的边界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685800" y="1352550"/>
            <a:ext cx="3810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150">
                <a:solidFill>
                  <a:srgbClr val="3DDC84"/>
                </a:solidFill>
                <a:latin typeface="Microsoft YaHei"/>
                <a:ea typeface="Microsoft YaHei"/>
              </a:rPr>
              <a:t>等效提速</a:t>
            </a:r>
            <a:r>
              <a:rPr lang="en-US" sz="975" spc="150">
                <a:solidFill>
                  <a:srgbClr val="3DDC84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 spc="150">
                <a:solidFill>
                  <a:srgbClr val="3DDC84"/>
                </a:solidFill>
                <a:latin typeface="Microsoft YaHei"/>
                <a:ea typeface="Microsoft YaHei"/>
              </a:rPr>
              <a:t>均衡任务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685800" y="1543050"/>
            <a:ext cx="3810000" cy="1447800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9000" b="1">
                <a:solidFill>
                  <a:srgbClr val="3DDC84"/>
                </a:solidFill>
                <a:latin typeface="Microsoft YaHei"/>
                <a:ea typeface="Microsoft YaHei"/>
              </a:rPr>
              <a:t>2.6×</a:t>
            </a:r>
            <a:endParaRPr/>
          </a:p>
        </p:txBody>
      </p:sp>
      <p:sp>
        <p:nvSpPr>
          <p:cNvPr id="278" name=""/>
          <p:cNvSpPr/>
          <p:nvPr/>
        </p:nvSpPr>
        <p:spPr>
          <a:xfrm rot="0" flipH="0" flipV="0">
            <a:off x="685800" y="3886200"/>
            <a:ext cx="3810000" cy="9525"/>
          </a:xfrm>
          <a:prstGeom prst="rect">
            <a:avLst/>
          </a:prstGeom>
          <a:solidFill>
            <a:srgbClr val="E9F1EC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685800" y="4276725"/>
            <a:ext cx="3810000" cy="83820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4950" b="1">
                <a:solidFill>
                  <a:srgbClr val="E9F1EC"/>
                </a:solidFill>
                <a:latin typeface="Microsoft YaHei"/>
                <a:ea typeface="Microsoft YaHei"/>
              </a:rPr>
              <a:t>1.44×</a:t>
            </a:r>
            <a:endParaRPr/>
          </a:p>
        </p:txBody>
      </p:sp>
      <p:graphicFrame>
        <p:nvGraphicFramePr>
          <p:cNvPr id="280" name=""/>
          <p:cNvGraphicFramePr/>
          <p:nvPr/>
        </p:nvGraphicFramePr>
        <p:xfrm rot="0" flipH="0" flipV="0">
          <a:off x="4953000" y="1352550"/>
          <a:ext cx="6096000" cy="1428750"/>
        </p:xfrm>
        <a:graphic>
          <a:graphicData uri="http://schemas.openxmlformats.org/drawingml/2006/table">
            <a:tbl>
              <a:tblGrid>
                <a:gridCol w="2853945">
                  <a:extLst>
                    <a:ext uri="{9D8B030D-6E8A-4147-A177-3AD203B41FA5}">
                      <a16:colId val="1"/>
                    </a:ext>
                  </a:extLst>
                </a:gridCol>
                <a:gridCol w="662463">
                  <a:extLst>
                    <a:ext uri="{9D8B030D-6E8A-4147-A177-3AD203B41FA5}">
                      <a16:colId val="2"/>
                    </a:ext>
                  </a:extLst>
                </a:gridCol>
                <a:gridCol w="1515636">
                  <a:extLst>
                    <a:ext uri="{9D8B030D-6E8A-4147-A177-3AD203B41FA5}">
                      <a16:colId val="3"/>
                    </a:ext>
                  </a:extLst>
                </a:gridCol>
                <a:gridCol w="1063956">
                  <a:extLst>
                    <a:ext uri="{9D8B030D-6E8A-4147-A177-3AD203B41FA5}">
                      <a16:colId val="4"/>
                    </a:ext>
                  </a:extLst>
                </a:gridCol>
              </a:tblGrid>
              <a:tr h="4762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3DDC84"/>
                          </a:solidFill>
                          <a:latin typeface="Microsoft YaHei"/>
                          <a:ea typeface="Microsoft YaHei"/>
                        </a:rPr>
                        <a:t>场景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620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E9F1EC"/>
                          </a:solidFill>
                          <a:latin typeface="Microsoft YaHei"/>
                          <a:ea typeface="Microsoft YaHei"/>
                        </a:rPr>
                        <a:t>墙钟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620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E9F1EC"/>
                          </a:solidFill>
                          <a:latin typeface="Microsoft YaHei"/>
                          <a:ea typeface="Microsoft YaHei"/>
                        </a:rPr>
                        <a:t>个体耗时合计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620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E9F1EC"/>
                          </a:solidFill>
                          <a:latin typeface="Microsoft YaHei"/>
                          <a:ea typeface="Microsoft YaHei"/>
                        </a:rPr>
                        <a:t>等效提速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620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4762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E9F1EC"/>
                          </a:solidFill>
                          <a:latin typeface="Microsoft YaHei"/>
                          <a:ea typeface="Microsoft YaHei"/>
                        </a:rPr>
                        <a:t>3 个均衡编码任务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512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E9F1EC"/>
                          </a:solidFill>
                          <a:latin typeface="Microsoft YaHei"/>
                          <a:ea typeface="Microsoft YaHei"/>
                        </a:rPr>
                        <a:t>82s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512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E9F1EC">
                              <a:alpha val="50000"/>
                            </a:srgbClr>
                          </a:solidFill>
                          <a:latin typeface="Microsoft YaHei"/>
                          <a:ea typeface="Microsoft YaHei"/>
                        </a:rPr>
                        <a:t>213s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512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3DDC84"/>
                          </a:solidFill>
                          <a:latin typeface="Microsoft YaHei"/>
                          <a:ea typeface="Microsoft YaHei"/>
                        </a:rPr>
                        <a:t>2.6×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512"/>
                    </a:solidFill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4762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E9F1EC"/>
                          </a:solidFill>
                          <a:latin typeface="Microsoft YaHei"/>
                          <a:ea typeface="Microsoft YaHei"/>
                        </a:rPr>
                        <a:t>3 个不均衡任务（含调研）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B17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E9F1EC"/>
                          </a:solidFill>
                          <a:latin typeface="Microsoft YaHei"/>
                          <a:ea typeface="Microsoft YaHei"/>
                        </a:rPr>
                        <a:t>698s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B17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E9F1EC">
                              <a:alpha val="50000"/>
                            </a:srgbClr>
                          </a:solidFill>
                          <a:latin typeface="Microsoft YaHei"/>
                          <a:ea typeface="Microsoft YaHei"/>
                        </a:rPr>
                        <a:t>1007s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B17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E9F1EC"/>
                          </a:solidFill>
                          <a:latin typeface="Microsoft YaHei"/>
                          <a:ea typeface="Microsoft YaHei"/>
                        </a:rPr>
                        <a:t>1.44×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B17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</a:tbl>
          </a:graphicData>
        </a:graphic>
      </p:graphicFrame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4953000" y="2990850"/>
            <a:ext cx="200025" cy="590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3DDC84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4953000" y="3714750"/>
            <a:ext cx="209550" cy="2952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3DDC84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4953000" y="4143375"/>
            <a:ext cx="209550" cy="2952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3DDC84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284" name=""/>
          <p:cNvSpPr/>
          <p:nvPr/>
        </p:nvSpPr>
        <p:spPr>
          <a:xfrm rot="0" flipH="0" flipV="0">
            <a:off x="4953000" y="5695950"/>
            <a:ext cx="6096000" cy="295275"/>
          </a:xfrm>
          <a:custGeom>
            <a:pathLst>
              <a:path w="640" h="31">
                <a:moveTo>
                  <a:pt x="0" y="0"/>
                </a:moveTo>
                <a:lnTo>
                  <a:pt x="640" y="0"/>
                </a:lnTo>
                <a:lnTo>
                  <a:pt x="640" y="1"/>
                </a:lnTo>
                <a:lnTo>
                  <a:pt x="0" y="1"/>
                </a:lnTo>
                <a:close/>
              </a:path>
            </a:pathLst>
          </a:custGeom>
          <a:solidFill>
            <a:srgbClr val="E9F1EC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685800" y="866775"/>
            <a:ext cx="10820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9F1EC">
                    <a:alpha val="55000"/>
                  </a:srgbClr>
                </a:solidFill>
                <a:latin typeface="Microsoft YaHei"/>
                <a:ea typeface="Microsoft YaHei"/>
              </a:rPr>
              <a:t>下面不是估算，是三次真实任务在本地跑出来的墙钟时间。</a:t>
            </a:r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685800" y="3048000"/>
            <a:ext cx="38100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E9F1EC">
                    <a:alpha val="70000"/>
                  </a:srgbClr>
                </a:solidFill>
                <a:latin typeface="Microsoft YaHei"/>
                <a:ea typeface="Microsoft YaHei"/>
              </a:rPr>
              <a:t>三个体量相当的编码任务（引擎</a:t>
            </a:r>
            <a:r>
              <a:rPr lang="en-US" sz="1125">
                <a:solidFill>
                  <a:srgbClr val="E9F1EC">
                    <a:alpha val="70000"/>
                  </a:srgbClr>
                </a:solidFill>
                <a:latin typeface="Microsoft YaHei"/>
                <a:ea typeface="Microsoft YaHei"/>
              </a:rPr>
              <a:t xml:space="preserve"> / UI / </a:t>
            </a:r>
            <a:r>
              <a:rPr lang="zh-CN" sz="1125">
                <a:solidFill>
                  <a:srgbClr val="E9F1EC">
                    <a:alpha val="70000"/>
                  </a:srgbClr>
                </a:solidFill>
                <a:latin typeface="Microsoft YaHei"/>
                <a:ea typeface="Microsoft YaHei"/>
              </a:rPr>
              <a:t>外壳）同时开工：</a:t>
            </a:r>
            <a:r>
              <a:rPr lang="en-US" sz="1125">
                <a:solidFill>
                  <a:srgbClr val="E9F1EC">
                    <a:alpha val="70000"/>
                  </a:srgbClr>
                </a:solidFill>
                <a:latin typeface="Microsoft YaHei"/>
                <a:ea typeface="Microsoft YaHei"/>
              </a:rPr>
              <a:t xml:space="preserve">82 </a:t>
            </a:r>
            <a:r>
              <a:rPr lang="zh-CN" sz="1125">
                <a:solidFill>
                  <a:srgbClr val="E9F1EC">
                    <a:alpha val="70000"/>
                  </a:srgbClr>
                </a:solidFill>
                <a:latin typeface="Microsoft YaHei"/>
                <a:ea typeface="Microsoft YaHei"/>
              </a:rPr>
              <a:t>秒完成，逐个做要</a:t>
            </a:r>
            <a:r>
              <a:rPr lang="en-US" sz="1125">
                <a:solidFill>
                  <a:srgbClr val="E9F1EC">
                    <a:alpha val="70000"/>
                  </a:srgbClr>
                </a:solidFill>
                <a:latin typeface="Microsoft YaHei"/>
                <a:ea typeface="Microsoft YaHei"/>
              </a:rPr>
              <a:t xml:space="preserve"> 213 </a:t>
            </a:r>
            <a:r>
              <a:rPr lang="zh-CN" sz="1125">
                <a:solidFill>
                  <a:srgbClr val="E9F1EC">
                    <a:alpha val="70000"/>
                  </a:srgbClr>
                </a:solidFill>
                <a:latin typeface="Microsoft YaHei"/>
                <a:ea typeface="Microsoft YaHei"/>
              </a:rPr>
              <a:t>秒。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685800" y="4105275"/>
            <a:ext cx="3810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150">
                <a:solidFill>
                  <a:srgbClr val="E9F1EC">
                    <a:alpha val="45000"/>
                  </a:srgbClr>
                </a:solidFill>
                <a:latin typeface="Microsoft YaHei"/>
                <a:ea typeface="Microsoft YaHei"/>
              </a:rPr>
              <a:t>等效提速</a:t>
            </a:r>
            <a:r>
              <a:rPr lang="en-US" sz="975" spc="150">
                <a:solidFill>
                  <a:srgbClr val="E9F1EC">
                    <a:alpha val="45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 spc="150">
                <a:solidFill>
                  <a:srgbClr val="E9F1EC">
                    <a:alpha val="45000"/>
                  </a:srgbClr>
                </a:solidFill>
                <a:latin typeface="Microsoft YaHei"/>
                <a:ea typeface="Microsoft YaHei"/>
              </a:rPr>
              <a:t>不均衡任务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685800" y="5172075"/>
            <a:ext cx="38100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E9F1EC">
                    <a:alpha val="70000"/>
                  </a:srgbClr>
                </a:solidFill>
                <a:latin typeface="Microsoft YaHei"/>
                <a:ea typeface="Microsoft YaHei"/>
              </a:rPr>
              <a:t>混进「读代码调研」这类长尾任务后：</a:t>
            </a:r>
            <a:r>
              <a:rPr lang="en-US" sz="1125">
                <a:solidFill>
                  <a:srgbClr val="E9F1EC">
                    <a:alpha val="70000"/>
                  </a:srgbClr>
                </a:solidFill>
                <a:latin typeface="Microsoft YaHei"/>
                <a:ea typeface="Microsoft YaHei"/>
              </a:rPr>
              <a:t xml:space="preserve">698 </a:t>
            </a:r>
            <a:r>
              <a:rPr lang="zh-CN" sz="1125">
                <a:solidFill>
                  <a:srgbClr val="E9F1EC">
                    <a:alpha val="70000"/>
                  </a:srgbClr>
                </a:solidFill>
                <a:latin typeface="Microsoft YaHei"/>
                <a:ea typeface="Microsoft YaHei"/>
              </a:rPr>
              <a:t>秒</a:t>
            </a:r>
            <a:r>
              <a:rPr lang="en-US" sz="1125">
                <a:solidFill>
                  <a:srgbClr val="E9F1EC">
                    <a:alpha val="70000"/>
                  </a:srgbClr>
                </a:solidFill>
                <a:latin typeface="Microsoft YaHei"/>
                <a:ea typeface="Microsoft YaHei"/>
              </a:rPr>
              <a:t xml:space="preserve"> vs 1007 </a:t>
            </a:r>
            <a:r>
              <a:rPr lang="zh-CN" sz="1125">
                <a:solidFill>
                  <a:srgbClr val="E9F1EC">
                    <a:alpha val="70000"/>
                  </a:srgbClr>
                </a:solidFill>
                <a:latin typeface="Microsoft YaHei"/>
                <a:ea typeface="Microsoft YaHei"/>
              </a:rPr>
              <a:t>秒，收益被最长的那条线吃掉。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5267325" y="2990850"/>
            <a:ext cx="578167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E9F1EC">
                    <a:alpha val="72000"/>
                  </a:srgbClr>
                </a:solidFill>
                <a:latin typeface="Microsoft YaHei"/>
                <a:ea typeface="Microsoft YaHei"/>
              </a:rPr>
              <a:t>并行收益取决于任务均衡度，总时长由最长的那条线决定——所以调研类任务要前置或单独拆出去。</a:t>
            </a:r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5276850" y="3714750"/>
            <a:ext cx="5495925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E9F1EC">
                    <a:alpha val="72000"/>
                  </a:srgbClr>
                </a:solidFill>
                <a:latin typeface="Microsoft YaHei"/>
                <a:ea typeface="Microsoft YaHei"/>
              </a:rPr>
              <a:t>契约成本约</a:t>
            </a:r>
            <a:r>
              <a:rPr lang="en-US" sz="1125">
                <a:solidFill>
                  <a:srgbClr val="E9F1EC">
                    <a:alpha val="72000"/>
                  </a:srgbClr>
                </a:solidFill>
                <a:latin typeface="Microsoft YaHei"/>
                <a:ea typeface="Microsoft YaHei"/>
              </a:rPr>
              <a:t xml:space="preserve"> 2–3 </a:t>
            </a:r>
            <a:r>
              <a:rPr lang="zh-CN" sz="1125">
                <a:solidFill>
                  <a:srgbClr val="E9F1EC">
                    <a:alpha val="72000"/>
                  </a:srgbClr>
                </a:solidFill>
                <a:latin typeface="Microsoft YaHei"/>
                <a:ea typeface="Microsoft YaHei"/>
              </a:rPr>
              <a:t>分钟，换来的是整轮返工的消失——这是全篇性价比最高的一笔投入。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5276850" y="4143375"/>
            <a:ext cx="5276850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E9F1EC">
                    <a:alpha val="72000"/>
                  </a:srgbClr>
                </a:solidFill>
                <a:latin typeface="Microsoft YaHei"/>
                <a:ea typeface="Microsoft YaHei"/>
              </a:rPr>
              <a:t>三条线刚好，五条线开始互相等：并行的上限是</a:t>
            </a:r>
            <a:r>
              <a:rPr lang="en-US" sz="1125">
                <a:solidFill>
                  <a:srgbClr val="E9F1EC">
                    <a:alpha val="72000"/>
                  </a:srgbClr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E9F1EC">
                    <a:alpha val="72000"/>
                  </a:srgbClr>
                </a:solidFill>
                <a:latin typeface="Microsoft YaHei"/>
                <a:ea typeface="Microsoft YaHei"/>
              </a:rPr>
              <a:t>互不依赖的文件数</a:t>
            </a:r>
            <a:r>
              <a:rPr lang="en-US" sz="1125">
                <a:solidFill>
                  <a:srgbClr val="E9F1EC">
                    <a:alpha val="72000"/>
                  </a:srgbClr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E9F1EC">
                    <a:alpha val="72000"/>
                  </a:srgbClr>
                </a:solidFill>
                <a:latin typeface="Microsoft YaHei"/>
                <a:ea typeface="Microsoft YaHei"/>
              </a:rPr>
              <a:t>，不是会话数。</a:t>
            </a:r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4953000" y="5838825"/>
            <a:ext cx="55054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E9F1EC">
                    <a:alpha val="40000"/>
                  </a:srgbClr>
                </a:solidFill>
                <a:latin typeface="Microsoft YaHei"/>
                <a:ea typeface="Microsoft YaHei"/>
              </a:rPr>
              <a:t>口径：同一台机器、同一批任务、各跑</a:t>
            </a:r>
            <a:r>
              <a:rPr lang="en-US" sz="938">
                <a:solidFill>
                  <a:srgbClr val="E9F1EC">
                    <a:alpha val="40000"/>
                  </a:srgbClr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938">
                <a:solidFill>
                  <a:srgbClr val="E9F1EC">
                    <a:alpha val="40000"/>
                  </a:srgbClr>
                </a:solidFill>
                <a:latin typeface="Microsoft YaHei"/>
                <a:ea typeface="Microsoft YaHei"/>
              </a:rPr>
              <a:t>次取中位数；换机器或换任务类型，数字会变，结论方向不会。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685800" y="6086475"/>
            <a:ext cx="16287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E9F1EC">
                    <a:alpha val="38000"/>
                  </a:srgbClr>
                </a:solidFill>
                <a:latin typeface="Microsoft YaHei"/>
                <a:ea typeface="Microsoft YaHei"/>
              </a:rPr>
              <a:t xml:space="preserve">TRAE </a:t>
            </a:r>
            <a:r>
              <a:rPr lang="zh-CN" sz="900">
                <a:solidFill>
                  <a:srgbClr val="E9F1EC">
                    <a:alpha val="38000"/>
                  </a:srgbClr>
                </a:solidFill>
                <a:latin typeface="Microsoft YaHei"/>
                <a:ea typeface="Microsoft YaHei"/>
              </a:rPr>
              <a:t>高效开发实战</a:t>
            </a:r>
            <a:r>
              <a:rPr lang="en-US" sz="900">
                <a:solidFill>
                  <a:srgbClr val="E9F1EC">
                    <a:alpha val="38000"/>
                  </a:srgbClr>
                </a:solidFill>
                <a:latin typeface="Microsoft YaHei"/>
                <a:ea typeface="Microsoft YaHei"/>
              </a:rPr>
              <a:t xml:space="preserve"> · 1024 </a:t>
            </a:r>
            <a:r>
              <a:rPr lang="zh-CN" sz="900">
                <a:solidFill>
                  <a:srgbClr val="E9F1EC">
                    <a:alpha val="38000"/>
                  </a:srgbClr>
                </a:solidFill>
                <a:latin typeface="Microsoft YaHei"/>
                <a:ea typeface="Microsoft YaHei"/>
              </a:rPr>
              <a:t>济宁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11115675" y="608647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E9F1EC">
                    <a:alpha val="38000"/>
                  </a:srgbClr>
                </a:solidFill>
                <a:latin typeface="Microsoft YaHei"/>
                <a:ea typeface="Microsoft YaHei"/>
              </a:rPr>
              <a:t>07 / 11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2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D0C"/>
          </a:solidFill>
          <a:ln/>
        </p:spPr>
        <p:txBody>
          <a:bodyPr/>
          <a:p>
            <a:pPr/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685800" y="38100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 spc="38">
                <a:solidFill>
                  <a:srgbClr val="E9F1EC"/>
                </a:solidFill>
                <a:latin typeface="Microsoft YaHei"/>
                <a:ea typeface="Microsoft YaHei"/>
              </a:rPr>
              <a:t>现场一定会出问题，问题要提前变成「已绕过」</a:t>
            </a:r>
            <a:endParaRPr/>
          </a:p>
        </p:txBody>
      </p:sp>
      <p:graphicFrame>
        <p:nvGraphicFramePr>
          <p:cNvPr id="298" name=""/>
          <p:cNvGraphicFramePr/>
          <p:nvPr/>
        </p:nvGraphicFramePr>
        <p:xfrm rot="0" flipH="0" flipV="0">
          <a:off x="685800" y="1352550"/>
          <a:ext cx="10820400" cy="2914650"/>
        </p:xfrm>
        <a:graphic>
          <a:graphicData uri="http://schemas.openxmlformats.org/drawingml/2006/table">
            <a:tbl>
              <a:tblGrid>
                <a:gridCol w="1885890">
                  <a:extLst>
                    <a:ext uri="{9D8B030D-6E8A-4147-A177-3AD203B41FA5}">
                      <a16:colId val="1"/>
                    </a:ext>
                  </a:extLst>
                </a:gridCol>
                <a:gridCol w="2909903">
                  <a:extLst>
                    <a:ext uri="{9D8B030D-6E8A-4147-A177-3AD203B41FA5}">
                      <a16:colId val="2"/>
                    </a:ext>
                  </a:extLst>
                </a:gridCol>
                <a:gridCol w="6024608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48577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3DDC84"/>
                          </a:solidFill>
                          <a:latin typeface="Microsoft YaHei"/>
                          <a:ea typeface="Microsoft YaHei"/>
                        </a:rPr>
                        <a:t>坑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620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E9F1EC"/>
                          </a:solidFill>
                          <a:latin typeface="Microsoft YaHei"/>
                          <a:ea typeface="Microsoft YaHei"/>
                        </a:rPr>
                        <a:t>现象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620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E9F1EC"/>
                          </a:solidFill>
                          <a:latin typeface="Microsoft YaHei"/>
                          <a:ea typeface="Microsoft YaHei"/>
                        </a:rPr>
                        <a:t>处理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620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48577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E9F1EC"/>
                          </a:solidFill>
                          <a:latin typeface="Microsoft YaHei"/>
                          <a:ea typeface="Microsoft YaHei"/>
                        </a:rPr>
                        <a:t>文件带 BOM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512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E9F1EC">
                              <a:alpha val="62000"/>
                            </a:srgbClr>
                          </a:solidFill>
                          <a:latin typeface="Microsoft YaHei"/>
                          <a:ea typeface="Microsoft YaHei"/>
                        </a:rPr>
                        <a:t>词法错误：未知字符 0xFEFF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512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E9F1EC"/>
                          </a:solidFill>
                          <a:latin typeface="Microsoft YaHei"/>
                          <a:ea typeface="Microsoft YaHei"/>
                        </a:rPr>
                        <a:t>存成 UTF-8 无 BOM；PowerShell 用 UTF8Encoding($false) 写文件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512"/>
                    </a:solidFill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48577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E9F1EC"/>
                          </a:solidFill>
                          <a:latin typeface="Microsoft YaHei"/>
                          <a:ea typeface="Microsoft YaHei"/>
                        </a:rPr>
                        <a:t>CLI 不在 PATH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B17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E9F1EC">
                              <a:alpha val="62000"/>
                            </a:srgbClr>
                          </a:solidFill>
                          <a:latin typeface="Microsoft YaHei"/>
                          <a:ea typeface="Microsoft YaHei"/>
                        </a:rPr>
                        <a:t>light 不是命令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B17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E9F1EC"/>
                          </a:solidFill>
                          <a:latin typeface="Microsoft YaHei"/>
                          <a:ea typeface="Microsoft YaHei"/>
                        </a:rPr>
                        <a:t>全部用 .venv\Scripts\light.exe 绝对路径，写进脚本不靠环境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B17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48577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E9F1EC"/>
                          </a:solidFill>
                          <a:latin typeface="Microsoft YaHei"/>
                          <a:ea typeface="Microsoft YaHei"/>
                        </a:rPr>
                        <a:t>HTTP 服务端不可用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512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E9F1EC">
                              <a:alpha val="62000"/>
                            </a:srgbClr>
                          </a:solidFill>
                          <a:latin typeface="Microsoft YaHei"/>
                          <a:ea typeface="Microsoft YaHei"/>
                        </a:rPr>
                        <a:t>创建HTTP服务端 is not defined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512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E9F1EC"/>
                          </a:solidFill>
                          <a:latin typeface="Microsoft YaHei"/>
                          <a:ea typeface="Microsoft YaHei"/>
                        </a:rPr>
                        <a:t>contrib 只有 Python 腿；改用标准库薄壳，业务一行不搬进 Python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512"/>
                    </a:solidFill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48577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E9F1EC"/>
                          </a:solidFill>
                          <a:latin typeface="Microsoft YaHei"/>
                          <a:ea typeface="Microsoft YaHei"/>
                        </a:rPr>
                        <a:t>循环语法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B17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E9F1EC">
                              <a:alpha val="62000"/>
                            </a:srgbClr>
                          </a:solidFill>
                          <a:latin typeface="Microsoft YaHei"/>
                          <a:ea typeface="Microsoft YaHei"/>
                        </a:rPr>
                        <a:t>遍历 i 从 0 到 10 解析失败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B17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E9F1EC"/>
                          </a:solidFill>
                          <a:latin typeface="Microsoft YaHei"/>
                          <a:ea typeface="Microsoft YaHei"/>
                        </a:rPr>
                        <a:t>L2 写法改用「当 i 小于 11：」+ 手动自增，别猜语法糖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B17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48577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E9F1EC"/>
                          </a:solidFill>
                          <a:latin typeface="Microsoft YaHei"/>
                          <a:ea typeface="Microsoft YaHei"/>
                        </a:rPr>
                        <a:t>参数怎么传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512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E9F1EC">
                              <a:alpha val="62000"/>
                            </a:srgbClr>
                          </a:solidFill>
                          <a:latin typeface="Microsoft YaHei"/>
                          <a:ea typeface="Microsoft YaHei"/>
                        </a:rPr>
                        <a:t>环境变量模块未导出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512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E9F1EC"/>
                          </a:solidFill>
                          <a:latin typeface="Microsoft YaHei"/>
                          <a:ea typeface="Microsoft YaHei"/>
                        </a:rPr>
                        <a:t>用 _input.json 传参最稳：写文件、读文件，可复现可回放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512"/>
                    </a:solidFill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</a:tbl>
          </a:graphicData>
        </a:graphic>
      </p:graphicFrame>
      <p:sp>
        <p:nvSpPr>
          <p:cNvPr id="299" name=""/>
          <p:cNvSpPr/>
          <p:nvPr/>
        </p:nvSpPr>
        <p:spPr>
          <a:xfrm rot="0" flipH="0" flipV="0">
            <a:off x="685800" y="4457700"/>
            <a:ext cx="10820400" cy="1333500"/>
          </a:xfrm>
          <a:prstGeom prst="roundRect">
            <a:avLst>
              <a:gd name="adj" fmla="val 2857"/>
            </a:avLst>
          </a:prstGeom>
          <a:solidFill>
            <a:srgbClr val="3DDC84">
              <a:alpha val="6000"/>
            </a:srgbClr>
          </a:solidFill>
          <a:ln w="12700">
            <a:solidFill>
              <a:srgbClr val="3DDC84">
                <a:alpha val="18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895350" y="4610100"/>
            <a:ext cx="10401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150">
                <a:solidFill>
                  <a:srgbClr val="3DDC84"/>
                </a:solidFill>
                <a:latin typeface="Microsoft YaHei"/>
                <a:ea typeface="Microsoft YaHei"/>
              </a:rPr>
              <a:t>三层兜底</a:t>
            </a:r>
            <a:r>
              <a:rPr lang="en-US" sz="975" spc="150">
                <a:solidFill>
                  <a:srgbClr val="3DDC84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 spc="150">
                <a:solidFill>
                  <a:srgbClr val="3DDC84"/>
                </a:solidFill>
                <a:latin typeface="Microsoft YaHei"/>
                <a:ea typeface="Microsoft YaHei"/>
              </a:rPr>
              <a:t>断网也要能演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685800" y="866775"/>
            <a:ext cx="10820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9F1EC">
                    <a:alpha val="55000"/>
                  </a:srgbClr>
                </a:solidFill>
                <a:latin typeface="Microsoft YaHei"/>
                <a:ea typeface="Microsoft YaHei"/>
              </a:rPr>
              <a:t>下面是光明语言实测踩到的五个坑——每一个都有确定解法，没有一个靠临场发挥。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895350" y="4876800"/>
            <a:ext cx="3305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9F1EC">
                    <a:alpha val="45000"/>
                  </a:srgbClr>
                </a:solidFill>
                <a:latin typeface="Microsoft YaHei"/>
                <a:ea typeface="Microsoft YaHei"/>
              </a:rPr>
              <a:t>第一层</a:t>
            </a:r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895350" y="5067300"/>
            <a:ext cx="3305175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13">
                <a:solidFill>
                  <a:srgbClr val="E9F1EC">
                    <a:alpha val="78000"/>
                  </a:srgbClr>
                </a:solidFill>
                <a:latin typeface="Microsoft YaHei"/>
                <a:ea typeface="Microsoft YaHei"/>
              </a:rPr>
              <a:t>请求</a:t>
            </a:r>
            <a:r>
              <a:rPr lang="en-US" sz="1013">
                <a:solidFill>
                  <a:srgbClr val="E9F1EC">
                    <a:alpha val="78000"/>
                  </a:srgbClr>
                </a:solidFill>
                <a:latin typeface="Microsoft YaHei"/>
                <a:ea typeface="Microsoft YaHei"/>
              </a:rPr>
              <a:t xml:space="preserve"> 2.5 </a:t>
            </a:r>
            <a:r>
              <a:rPr lang="zh-CN" sz="1013">
                <a:solidFill>
                  <a:srgbClr val="E9F1EC">
                    <a:alpha val="78000"/>
                  </a:srgbClr>
                </a:solidFill>
                <a:latin typeface="Microsoft YaHei"/>
                <a:ea typeface="Microsoft YaHei"/>
              </a:rPr>
              <a:t>秒超时后自动走本地</a:t>
            </a:r>
            <a:r>
              <a:rPr lang="en-US" sz="1013">
                <a:solidFill>
                  <a:srgbClr val="E9F1EC">
                    <a:alpha val="78000"/>
                  </a:srgbClr>
                </a:solidFill>
                <a:latin typeface="Microsoft YaHei"/>
                <a:ea typeface="Microsoft YaHei"/>
              </a:rPr>
              <a:t xml:space="preserve"> mock</a:t>
            </a:r>
            <a:r>
              <a:rPr lang="zh-CN" sz="1013">
                <a:solidFill>
                  <a:srgbClr val="E9F1EC">
                    <a:alpha val="78000"/>
                  </a:srgbClr>
                </a:solidFill>
                <a:latin typeface="Microsoft YaHei"/>
                <a:ea typeface="Microsoft YaHei"/>
              </a:rPr>
              <a:t>，状态栏明确标注「本地兜底」。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4448175" y="4876800"/>
            <a:ext cx="3295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9F1EC">
                    <a:alpha val="45000"/>
                  </a:srgbClr>
                </a:solidFill>
                <a:latin typeface="Microsoft YaHei"/>
                <a:ea typeface="Microsoft YaHei"/>
              </a:rPr>
              <a:t>第二层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4448175" y="5067300"/>
            <a:ext cx="329565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13">
                <a:solidFill>
                  <a:srgbClr val="E9F1EC">
                    <a:alpha val="78000"/>
                  </a:srgbClr>
                </a:solidFill>
                <a:latin typeface="Microsoft YaHei"/>
                <a:ea typeface="Microsoft YaHei"/>
              </a:rPr>
              <a:t>关键结果预生成</a:t>
            </a:r>
            <a:r>
              <a:rPr lang="en-US" sz="1013">
                <a:solidFill>
                  <a:srgbClr val="E9F1EC">
                    <a:alpha val="78000"/>
                  </a:srgbClr>
                </a:solidFill>
                <a:latin typeface="Microsoft YaHei"/>
                <a:ea typeface="Microsoft YaHei"/>
              </a:rPr>
              <a:t xml:space="preserve"> JSON</a:t>
            </a:r>
            <a:r>
              <a:rPr lang="zh-CN" sz="1013">
                <a:solidFill>
                  <a:srgbClr val="E9F1EC">
                    <a:alpha val="78000"/>
                  </a:srgbClr>
                </a:solidFill>
                <a:latin typeface="Microsoft YaHei"/>
                <a:ea typeface="Microsoft YaHei"/>
              </a:rPr>
              <a:t>（本项目</a:t>
            </a:r>
            <a:r>
              <a:rPr lang="en-US" sz="1013">
                <a:solidFill>
                  <a:srgbClr val="E9F1EC">
                    <a:alpha val="78000"/>
                  </a:srgbClr>
                </a:solidFill>
                <a:latin typeface="Microsoft YaHei"/>
                <a:ea typeface="Microsoft YaHei"/>
              </a:rPr>
              <a:t xml:space="preserve"> 1331 </a:t>
            </a:r>
            <a:r>
              <a:rPr lang="zh-CN" sz="1013">
                <a:solidFill>
                  <a:srgbClr val="E9F1EC">
                    <a:alpha val="78000"/>
                  </a:srgbClr>
                </a:solidFill>
                <a:latin typeface="Microsoft YaHei"/>
                <a:ea typeface="Microsoft YaHei"/>
              </a:rPr>
              <a:t>组），演示前先跑一次并缓存。</a:t>
            </a:r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7991475" y="4876800"/>
            <a:ext cx="3305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9F1EC">
                    <a:alpha val="45000"/>
                  </a:srgbClr>
                </a:solidFill>
                <a:latin typeface="Microsoft YaHei"/>
                <a:ea typeface="Microsoft YaHei"/>
              </a:rPr>
              <a:t>第三层</a:t>
            </a:r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7991475" y="5067300"/>
            <a:ext cx="3305175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13">
                <a:solidFill>
                  <a:srgbClr val="E9F1EC">
                    <a:alpha val="78000"/>
                  </a:srgbClr>
                </a:solidFill>
                <a:latin typeface="Microsoft YaHei"/>
                <a:ea typeface="Microsoft YaHei"/>
              </a:rPr>
              <a:t>提前录好</a:t>
            </a:r>
            <a:r>
              <a:rPr lang="en-US" sz="1013">
                <a:solidFill>
                  <a:srgbClr val="E9F1EC">
                    <a:alpha val="78000"/>
                  </a:srgbClr>
                </a:solidFill>
                <a:latin typeface="Microsoft YaHei"/>
                <a:ea typeface="Microsoft YaHei"/>
              </a:rPr>
              <a:t xml:space="preserve"> 60 </a:t>
            </a:r>
            <a:r>
              <a:rPr lang="zh-CN" sz="1013">
                <a:solidFill>
                  <a:srgbClr val="E9F1EC">
                    <a:alpha val="78000"/>
                  </a:srgbClr>
                </a:solidFill>
                <a:latin typeface="Microsoft YaHei"/>
                <a:ea typeface="Microsoft YaHei"/>
              </a:rPr>
              <a:t>秒屏幕录像——最狠的兜底，也是最不体面的那种。</a:t>
            </a:r>
            <a:endParaRPr/>
          </a:p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685800" y="6086475"/>
            <a:ext cx="16287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E9F1EC">
                    <a:alpha val="38000"/>
                  </a:srgbClr>
                </a:solidFill>
                <a:latin typeface="Microsoft YaHei"/>
                <a:ea typeface="Microsoft YaHei"/>
              </a:rPr>
              <a:t xml:space="preserve">TRAE </a:t>
            </a:r>
            <a:r>
              <a:rPr lang="zh-CN" sz="900">
                <a:solidFill>
                  <a:srgbClr val="E9F1EC">
                    <a:alpha val="38000"/>
                  </a:srgbClr>
                </a:solidFill>
                <a:latin typeface="Microsoft YaHei"/>
                <a:ea typeface="Microsoft YaHei"/>
              </a:rPr>
              <a:t>高效开发实战</a:t>
            </a:r>
            <a:r>
              <a:rPr lang="en-US" sz="900">
                <a:solidFill>
                  <a:srgbClr val="E9F1EC">
                    <a:alpha val="38000"/>
                  </a:srgbClr>
                </a:solidFill>
                <a:latin typeface="Microsoft YaHei"/>
                <a:ea typeface="Microsoft YaHei"/>
              </a:rPr>
              <a:t xml:space="preserve"> · 1024 </a:t>
            </a:r>
            <a:r>
              <a:rPr lang="zh-CN" sz="900">
                <a:solidFill>
                  <a:srgbClr val="E9F1EC">
                    <a:alpha val="38000"/>
                  </a:srgbClr>
                </a:solidFill>
                <a:latin typeface="Microsoft YaHei"/>
                <a:ea typeface="Microsoft YaHei"/>
              </a:rPr>
              <a:t>济宁</a:t>
            </a:r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11115675" y="608647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E9F1EC">
                    <a:alpha val="38000"/>
                  </a:srgbClr>
                </a:solidFill>
                <a:latin typeface="Microsoft YaHei"/>
                <a:ea typeface="Microsoft YaHei"/>
              </a:rPr>
              <a:t>08 / 11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3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D0C"/>
          </a:solidFill>
          <a:ln/>
        </p:spPr>
        <p:txBody>
          <a:bodyPr/>
          <a:p>
            <a:pPr/>
            <a:endParaRPr/>
          </a:p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685800" y="38100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 spc="38">
                <a:solidFill>
                  <a:srgbClr val="E9F1EC"/>
                </a:solidFill>
                <a:latin typeface="Microsoft YaHei"/>
                <a:ea typeface="Microsoft YaHei"/>
              </a:rPr>
              <a:t xml:space="preserve">90 </a:t>
            </a:r>
            <a:r>
              <a:rPr lang="zh-CN" sz="2550" b="1" spc="38">
                <a:solidFill>
                  <a:srgbClr val="E9F1EC"/>
                </a:solidFill>
                <a:latin typeface="Microsoft YaHei"/>
                <a:ea typeface="Microsoft YaHei"/>
              </a:rPr>
              <a:t>分钟怎么切，以及什么时候必须砍</a:t>
            </a:r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685800" y="1352550"/>
            <a:ext cx="723900" cy="485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3DDC84"/>
                </a:solidFill>
                <a:latin typeface="Microsoft YaHei"/>
                <a:ea typeface="Microsoft YaHei"/>
              </a:rPr>
              <a:t>0–10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1581150" y="1352550"/>
            <a:ext cx="3219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38" b="1">
                <a:solidFill>
                  <a:srgbClr val="E9F1EC"/>
                </a:solidFill>
                <a:latin typeface="Microsoft YaHei"/>
                <a:ea typeface="Microsoft YaHei"/>
              </a:rPr>
              <a:t>发散选题，只留一个</a:t>
            </a:r>
            <a:endParaRPr/>
          </a:p>
        </p:txBody>
      </p:sp>
      <p:sp>
        <p:nvSpPr>
          <p:cNvPr id="315" name=""/>
          <p:cNvSpPr/>
          <p:nvPr/>
        </p:nvSpPr>
        <p:spPr>
          <a:xfrm rot="0" flipH="0" flipV="0">
            <a:off x="685800" y="2105025"/>
            <a:ext cx="6477000" cy="9525"/>
          </a:xfrm>
          <a:prstGeom prst="rect">
            <a:avLst/>
          </a:prstGeom>
          <a:solidFill>
            <a:srgbClr val="E9F1EC">
              <a:alpha val="9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685800" y="2390775"/>
            <a:ext cx="723900" cy="485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3DDC84"/>
                </a:solidFill>
                <a:latin typeface="Microsoft YaHei"/>
                <a:ea typeface="Microsoft YaHei"/>
              </a:rPr>
              <a:t>10–25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1581150" y="2390775"/>
            <a:ext cx="3086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38" b="1">
                <a:solidFill>
                  <a:srgbClr val="E9F1EC"/>
                </a:solidFill>
                <a:latin typeface="Microsoft YaHei"/>
                <a:ea typeface="Microsoft YaHei"/>
              </a:rPr>
              <a:t>写</a:t>
            </a:r>
            <a:r>
              <a:rPr lang="en-US" sz="1238" b="1">
                <a:solidFill>
                  <a:srgbClr val="E9F1EC"/>
                </a:solidFill>
                <a:latin typeface="Microsoft YaHei"/>
                <a:ea typeface="Microsoft YaHei"/>
              </a:rPr>
              <a:t xml:space="preserve"> 60 </a:t>
            </a:r>
            <a:r>
              <a:rPr lang="zh-CN" sz="1238" b="1">
                <a:solidFill>
                  <a:srgbClr val="E9F1EC"/>
                </a:solidFill>
                <a:latin typeface="Microsoft YaHei"/>
                <a:ea typeface="Microsoft YaHei"/>
              </a:rPr>
              <a:t>秒脚本，跑通空壳</a:t>
            </a:r>
            <a:endParaRPr/>
          </a:p>
        </p:txBody>
      </p:sp>
      <p:sp>
        <p:nvSpPr>
          <p:cNvPr id="318" name=""/>
          <p:cNvSpPr/>
          <p:nvPr/>
        </p:nvSpPr>
        <p:spPr>
          <a:xfrm rot="0" flipH="0" flipV="0">
            <a:off x="685800" y="3143250"/>
            <a:ext cx="6477000" cy="9525"/>
          </a:xfrm>
          <a:prstGeom prst="rect">
            <a:avLst/>
          </a:prstGeom>
          <a:solidFill>
            <a:srgbClr val="E9F1EC">
              <a:alpha val="9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685800" y="3429000"/>
            <a:ext cx="723900" cy="485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3DDC84"/>
                </a:solidFill>
                <a:latin typeface="Microsoft YaHei"/>
                <a:ea typeface="Microsoft YaHei"/>
              </a:rPr>
              <a:t>25–60</a:t>
            </a:r>
            <a:endParaRPr/>
          </a:p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1581150" y="3429000"/>
            <a:ext cx="3895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38" b="1">
                <a:solidFill>
                  <a:srgbClr val="3DDC84"/>
                </a:solidFill>
                <a:latin typeface="Microsoft YaHei"/>
                <a:ea typeface="Microsoft YaHei"/>
              </a:rPr>
              <a:t>三包并行，出首版可演示</a:t>
            </a:r>
            <a:endParaRPr/>
          </a:p>
        </p:txBody>
      </p:sp>
      <p:sp>
        <p:nvSpPr>
          <p:cNvPr id="321" name=""/>
          <p:cNvSpPr/>
          <p:nvPr/>
        </p:nvSpPr>
        <p:spPr>
          <a:xfrm rot="0" flipH="0" flipV="0">
            <a:off x="685800" y="4181475"/>
            <a:ext cx="6477000" cy="9525"/>
          </a:xfrm>
          <a:prstGeom prst="rect">
            <a:avLst/>
          </a:prstGeom>
          <a:solidFill>
            <a:srgbClr val="E9F1EC">
              <a:alpha val="9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685800" y="4457700"/>
            <a:ext cx="723900" cy="485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3DDC84"/>
                </a:solidFill>
                <a:latin typeface="Microsoft YaHei"/>
                <a:ea typeface="Microsoft YaHei"/>
              </a:rPr>
              <a:t>60–75</a:t>
            </a:r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1581150" y="4457700"/>
            <a:ext cx="3343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38" b="1">
                <a:solidFill>
                  <a:srgbClr val="E9F1EC"/>
                </a:solidFill>
                <a:latin typeface="Microsoft YaHei"/>
                <a:ea typeface="Microsoft YaHei"/>
              </a:rPr>
              <a:t>补三态，开始砍功能</a:t>
            </a:r>
            <a:endParaRPr/>
          </a:p>
        </p:txBody>
      </p:sp>
      <p:sp>
        <p:nvSpPr>
          <p:cNvPr id="324" name=""/>
          <p:cNvSpPr/>
          <p:nvPr/>
        </p:nvSpPr>
        <p:spPr>
          <a:xfrm rot="0" flipH="0" flipV="0">
            <a:off x="685800" y="5219700"/>
            <a:ext cx="6477000" cy="9525"/>
          </a:xfrm>
          <a:prstGeom prst="rect">
            <a:avLst/>
          </a:prstGeom>
          <a:solidFill>
            <a:srgbClr val="E9F1EC">
              <a:alpha val="9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685800" y="5495925"/>
            <a:ext cx="723900" cy="485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3DDC84"/>
                </a:solidFill>
                <a:latin typeface="Microsoft YaHei"/>
                <a:ea typeface="Microsoft YaHei"/>
              </a:rPr>
              <a:t>75–90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1581150" y="5495925"/>
            <a:ext cx="26384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38" b="1">
                <a:solidFill>
                  <a:srgbClr val="E9F1EC"/>
                </a:solidFill>
                <a:latin typeface="Microsoft YaHei"/>
                <a:ea typeface="Microsoft YaHei"/>
              </a:rPr>
              <a:t>照脚本彩排两遍，录屏</a:t>
            </a:r>
            <a:endParaRPr/>
          </a:p>
        </p:txBody>
      </p:sp>
      <p:sp>
        <p:nvSpPr>
          <p:cNvPr id="327" name=""/>
          <p:cNvSpPr/>
          <p:nvPr/>
        </p:nvSpPr>
        <p:spPr>
          <a:xfrm rot="0" flipH="0" flipV="0">
            <a:off x="7543800" y="1352550"/>
            <a:ext cx="3962400" cy="1914525"/>
          </a:xfrm>
          <a:prstGeom prst="roundRect">
            <a:avLst>
              <a:gd name="adj" fmla="val 1990"/>
            </a:avLst>
          </a:prstGeom>
          <a:solidFill>
            <a:srgbClr val="1A2620"/>
          </a:solidFill>
          <a:ln w="12700">
            <a:solidFill>
              <a:srgbClr val="E9F1EC">
                <a:alpha val="1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7715250" y="1524000"/>
            <a:ext cx="3619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150">
                <a:solidFill>
                  <a:srgbClr val="3DDC84"/>
                </a:solidFill>
                <a:latin typeface="Microsoft YaHei"/>
                <a:ea typeface="Microsoft YaHei"/>
              </a:rPr>
              <a:t>熔断顺序</a:t>
            </a:r>
            <a:r>
              <a:rPr lang="en-US" sz="975" spc="150">
                <a:solidFill>
                  <a:srgbClr val="3DDC84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 spc="150">
                <a:solidFill>
                  <a:srgbClr val="3DDC84"/>
                </a:solidFill>
                <a:latin typeface="Microsoft YaHei"/>
                <a:ea typeface="Microsoft YaHei"/>
              </a:rPr>
              <a:t>从后往前砍</a:t>
            </a:r>
            <a:endParaRPr/>
          </a:p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7715250" y="2657475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>
                <a:solidFill>
                  <a:srgbClr val="3DDC84"/>
                </a:solidFill>
                <a:latin typeface="Microsoft YaHei"/>
                <a:ea typeface="Microsoft YaHei"/>
              </a:rPr>
              <a:t>④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7934325" y="2647950"/>
            <a:ext cx="1609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>
                <a:solidFill>
                  <a:srgbClr val="3DDC84"/>
                </a:solidFill>
                <a:latin typeface="Microsoft YaHei"/>
                <a:ea typeface="Microsoft YaHei"/>
              </a:rPr>
              <a:t>只留「输入</a:t>
            </a:r>
            <a:r>
              <a:rPr lang="en-US" sz="1088">
                <a:solidFill>
                  <a:srgbClr val="3DDC84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088">
                <a:solidFill>
                  <a:srgbClr val="3DDC84"/>
                </a:solidFill>
                <a:latin typeface="Microsoft YaHei"/>
                <a:ea typeface="Microsoft YaHei"/>
              </a:rPr>
              <a:t>结果」主线</a:t>
            </a:r>
            <a:endParaRPr/>
          </a:p>
        </p:txBody>
      </p:sp>
      <p:sp>
        <p:nvSpPr>
          <p:cNvPr id="331" name=""/>
          <p:cNvSpPr/>
          <p:nvPr/>
        </p:nvSpPr>
        <p:spPr>
          <a:xfrm rot="0" flipH="0" flipV="0">
            <a:off x="7543800" y="3438525"/>
            <a:ext cx="3962400" cy="1895475"/>
          </a:xfrm>
          <a:prstGeom prst="roundRect">
            <a:avLst>
              <a:gd name="adj" fmla="val 2010"/>
            </a:avLst>
          </a:prstGeom>
          <a:solidFill>
            <a:srgbClr val="3DDC84">
              <a:alpha val="6000"/>
            </a:srgbClr>
          </a:solidFill>
          <a:ln w="12700">
            <a:solidFill>
              <a:srgbClr val="3DDC84">
                <a:alpha val="18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7715250" y="3609975"/>
            <a:ext cx="3619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150">
                <a:solidFill>
                  <a:srgbClr val="3DDC84"/>
                </a:solidFill>
                <a:latin typeface="Microsoft YaHei"/>
                <a:ea typeface="Microsoft YaHei"/>
              </a:rPr>
              <a:t>三个硬节点</a:t>
            </a:r>
            <a:endParaRPr/>
          </a:p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7715250" y="3876675"/>
            <a:ext cx="36195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 b="1">
                <a:solidFill>
                  <a:srgbClr val="E9F1EC"/>
                </a:solidFill>
                <a:latin typeface="Microsoft YaHei"/>
                <a:ea typeface="Microsoft YaHei"/>
              </a:rPr>
              <a:t xml:space="preserve">25 </a:t>
            </a:r>
            <a:r>
              <a:rPr lang="zh-CN" sz="1163" b="1">
                <a:solidFill>
                  <a:srgbClr val="E9F1EC"/>
                </a:solidFill>
                <a:latin typeface="Microsoft YaHei"/>
                <a:ea typeface="Microsoft YaHei"/>
              </a:rPr>
              <a:t>分钟</a:t>
            </a:r>
            <a:r>
              <a:rPr lang="en-US" sz="1163" b="1">
                <a:solidFill>
                  <a:srgbClr val="E9F1E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63" b="1">
                <a:solidFill>
                  <a:srgbClr val="E9F1EC"/>
                </a:solidFill>
                <a:latin typeface="Microsoft YaHei"/>
                <a:ea typeface="Microsoft YaHei"/>
              </a:rPr>
              <a:t>必须有可点版本</a:t>
            </a:r>
            <a:endParaRPr/>
          </a:p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7715250" y="4343400"/>
            <a:ext cx="36195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 b="1">
                <a:solidFill>
                  <a:srgbClr val="E9F1EC"/>
                </a:solidFill>
                <a:latin typeface="Microsoft YaHei"/>
                <a:ea typeface="Microsoft YaHei"/>
              </a:rPr>
              <a:t xml:space="preserve">75 </a:t>
            </a:r>
            <a:r>
              <a:rPr lang="zh-CN" sz="1163" b="1">
                <a:solidFill>
                  <a:srgbClr val="E9F1EC"/>
                </a:solidFill>
                <a:latin typeface="Microsoft YaHei"/>
                <a:ea typeface="Microsoft YaHei"/>
              </a:rPr>
              <a:t>分钟</a:t>
            </a:r>
            <a:r>
              <a:rPr lang="en-US" sz="1163" b="1">
                <a:solidFill>
                  <a:srgbClr val="E9F1E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63" b="1">
                <a:solidFill>
                  <a:srgbClr val="E9F1EC"/>
                </a:solidFill>
                <a:latin typeface="Microsoft YaHei"/>
                <a:ea typeface="Microsoft YaHei"/>
              </a:rPr>
              <a:t>必须停止写代码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7715250" y="4810125"/>
            <a:ext cx="36195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 b="1">
                <a:solidFill>
                  <a:srgbClr val="3DDC84"/>
                </a:solidFill>
                <a:latin typeface="Microsoft YaHei"/>
                <a:ea typeface="Microsoft YaHei"/>
              </a:rPr>
              <a:t xml:space="preserve">90 </a:t>
            </a:r>
            <a:r>
              <a:rPr lang="zh-CN" sz="1163" b="1">
                <a:solidFill>
                  <a:srgbClr val="3DDC84"/>
                </a:solidFill>
                <a:latin typeface="Microsoft YaHei"/>
                <a:ea typeface="Microsoft YaHei"/>
              </a:rPr>
              <a:t>分钟</a:t>
            </a:r>
            <a:r>
              <a:rPr lang="en-US" sz="1163" b="1">
                <a:solidFill>
                  <a:srgbClr val="3DDC84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63" b="1">
                <a:solidFill>
                  <a:srgbClr val="3DDC84"/>
                </a:solidFill>
                <a:latin typeface="Microsoft YaHei"/>
                <a:ea typeface="Microsoft YaHei"/>
              </a:rPr>
              <a:t>必须完整讲一遍</a:t>
            </a:r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685800" y="866775"/>
            <a:ext cx="10820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9F1EC">
                    <a:alpha val="55000"/>
                  </a:srgbClr>
                </a:solidFill>
                <a:latin typeface="Microsoft YaHei"/>
                <a:ea typeface="Microsoft YaHei"/>
              </a:rPr>
              <a:t>每一段都带检查点；熔断顺序提前定死，现场不讨论、不投票。</a:t>
            </a:r>
            <a:endParaRPr/>
          </a:p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1581150" y="1590675"/>
            <a:ext cx="3219450" cy="247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13">
                <a:solidFill>
                  <a:srgbClr val="E9F1EC">
                    <a:alpha val="55000"/>
                  </a:srgbClr>
                </a:solidFill>
                <a:latin typeface="Microsoft YaHei"/>
                <a:ea typeface="Microsoft YaHei"/>
              </a:rPr>
              <a:t>检查点：说得出「谁的问题」，而不是「用了什么技术」</a:t>
            </a:r>
            <a:endParaRPr/>
          </a:p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1581150" y="2628900"/>
            <a:ext cx="3086100" cy="247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13">
                <a:solidFill>
                  <a:srgbClr val="E9F1EC">
                    <a:alpha val="55000"/>
                  </a:srgbClr>
                </a:solidFill>
                <a:latin typeface="Microsoft YaHei"/>
                <a:ea typeface="Microsoft YaHei"/>
              </a:rPr>
              <a:t>检查点：页面能打开，按钮能点，先不接任何真实数据</a:t>
            </a:r>
            <a:endParaRPr/>
          </a:p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1581150" y="3667125"/>
            <a:ext cx="3895725" cy="247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13">
                <a:solidFill>
                  <a:srgbClr val="E9F1EC">
                    <a:alpha val="62000"/>
                  </a:srgbClr>
                </a:solidFill>
                <a:latin typeface="Microsoft YaHei"/>
                <a:ea typeface="Microsoft YaHei"/>
              </a:rPr>
              <a:t>检查点：</a:t>
            </a:r>
            <a:r>
              <a:rPr lang="en-US" sz="1013">
                <a:solidFill>
                  <a:srgbClr val="E9F1EC">
                    <a:alpha val="62000"/>
                  </a:srgbClr>
                </a:solidFill>
                <a:latin typeface="Microsoft YaHei"/>
                <a:ea typeface="Microsoft YaHei"/>
              </a:rPr>
              <a:t xml:space="preserve">25 </a:t>
            </a:r>
            <a:r>
              <a:rPr lang="zh-CN" sz="1013">
                <a:solidFill>
                  <a:srgbClr val="E9F1EC">
                    <a:alpha val="62000"/>
                  </a:srgbClr>
                </a:solidFill>
                <a:latin typeface="Microsoft YaHei"/>
                <a:ea typeface="Microsoft YaHei"/>
              </a:rPr>
              <a:t>分钟必须有可点版本；每</a:t>
            </a:r>
            <a:r>
              <a:rPr lang="en-US" sz="1013">
                <a:solidFill>
                  <a:srgbClr val="E9F1EC">
                    <a:alpha val="62000"/>
                  </a:srgbClr>
                </a:solidFill>
                <a:latin typeface="Microsoft YaHei"/>
                <a:ea typeface="Microsoft YaHei"/>
              </a:rPr>
              <a:t xml:space="preserve"> 15 </a:t>
            </a:r>
            <a:r>
              <a:rPr lang="zh-CN" sz="1013">
                <a:solidFill>
                  <a:srgbClr val="E9F1EC">
                    <a:alpha val="62000"/>
                  </a:srgbClr>
                </a:solidFill>
                <a:latin typeface="Microsoft YaHei"/>
                <a:ea typeface="Microsoft YaHei"/>
              </a:rPr>
              <a:t>分钟合一次，合并只动入口</a:t>
            </a:r>
            <a:endParaRPr/>
          </a:p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1581150" y="4695825"/>
            <a:ext cx="3343275" cy="247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13">
                <a:solidFill>
                  <a:srgbClr val="E9F1EC">
                    <a:alpha val="55000"/>
                  </a:srgbClr>
                </a:solidFill>
                <a:latin typeface="Microsoft YaHei"/>
                <a:ea typeface="Microsoft YaHei"/>
              </a:rPr>
              <a:t>检查点：断网也能演，错误态有重试，控制台没有红色报错</a:t>
            </a:r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1581150" y="5734050"/>
            <a:ext cx="2638425" cy="247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13">
                <a:solidFill>
                  <a:srgbClr val="E9F1EC">
                    <a:alpha val="55000"/>
                  </a:srgbClr>
                </a:solidFill>
                <a:latin typeface="Microsoft YaHei"/>
                <a:ea typeface="Microsoft YaHei"/>
              </a:rPr>
              <a:t>检查点：</a:t>
            </a:r>
            <a:r>
              <a:rPr lang="en-US" sz="1013">
                <a:solidFill>
                  <a:srgbClr val="E9F1EC">
                    <a:alpha val="55000"/>
                  </a:srgbClr>
                </a:solidFill>
                <a:latin typeface="Microsoft YaHei"/>
                <a:ea typeface="Microsoft YaHei"/>
              </a:rPr>
              <a:t xml:space="preserve">60 </a:t>
            </a:r>
            <a:r>
              <a:rPr lang="zh-CN" sz="1013">
                <a:solidFill>
                  <a:srgbClr val="E9F1EC">
                    <a:alpha val="55000"/>
                  </a:srgbClr>
                </a:solidFill>
                <a:latin typeface="Microsoft YaHei"/>
                <a:ea typeface="Microsoft YaHei"/>
              </a:rPr>
              <a:t>秒内讲完；录屏文件已经在桌面上</a:t>
            </a:r>
            <a:endParaRPr/>
          </a:p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7715250" y="1800225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>
                <a:solidFill>
                  <a:srgbClr val="E9F1EC">
                    <a:alpha val="40000"/>
                  </a:srgbClr>
                </a:solidFill>
                <a:latin typeface="Microsoft YaHei"/>
                <a:ea typeface="Microsoft YaHei"/>
              </a:rPr>
              <a:t>①</a:t>
            </a:r>
            <a:endParaRPr/>
          </a:p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7934325" y="1790700"/>
            <a:ext cx="695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>
                <a:solidFill>
                  <a:srgbClr val="E9F1EC">
                    <a:alpha val="60000"/>
                  </a:srgbClr>
                </a:solidFill>
                <a:latin typeface="Microsoft YaHei"/>
                <a:ea typeface="Microsoft YaHei"/>
              </a:rPr>
              <a:t>登录与权限</a:t>
            </a:r>
            <a:endParaRPr/>
          </a:p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7715250" y="2085975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>
                <a:solidFill>
                  <a:srgbClr val="E9F1EC">
                    <a:alpha val="40000"/>
                  </a:srgbClr>
                </a:solidFill>
                <a:latin typeface="Microsoft YaHei"/>
                <a:ea typeface="Microsoft YaHei"/>
              </a:rPr>
              <a:t>②</a:t>
            </a:r>
            <a:endParaRPr/>
          </a:p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7934325" y="2076450"/>
            <a:ext cx="828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>
                <a:solidFill>
                  <a:srgbClr val="E9F1EC">
                    <a:alpha val="60000"/>
                  </a:srgbClr>
                </a:solidFill>
                <a:latin typeface="Microsoft YaHei"/>
                <a:ea typeface="Microsoft YaHei"/>
              </a:rPr>
              <a:t>后台与多页面</a:t>
            </a:r>
            <a:endParaRPr/>
          </a:p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7715250" y="2371725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>
                <a:solidFill>
                  <a:srgbClr val="E9F1EC">
                    <a:alpha val="40000"/>
                  </a:srgbClr>
                </a:solidFill>
                <a:latin typeface="Microsoft YaHei"/>
                <a:ea typeface="Microsoft YaHei"/>
              </a:rPr>
              <a:t>③</a:t>
            </a:r>
            <a:endParaRPr/>
          </a:p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7934325" y="2362200"/>
            <a:ext cx="552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>
                <a:solidFill>
                  <a:srgbClr val="E9F1EC">
                    <a:alpha val="60000"/>
                  </a:srgbClr>
                </a:solidFill>
                <a:latin typeface="Microsoft YaHei"/>
                <a:ea typeface="Microsoft YaHei"/>
              </a:rPr>
              <a:t>花哨动效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7715250" y="2952750"/>
            <a:ext cx="3619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E9F1EC">
                    <a:alpha val="40000"/>
                  </a:srgbClr>
                </a:solidFill>
                <a:latin typeface="Microsoft YaHei"/>
                <a:ea typeface="Microsoft YaHei"/>
              </a:rPr>
              <a:t>砍到第</a:t>
            </a:r>
            <a:r>
              <a:rPr lang="en-US" sz="938">
                <a:solidFill>
                  <a:srgbClr val="E9F1EC">
                    <a:alpha val="40000"/>
                  </a:srgbClr>
                </a:solidFill>
                <a:latin typeface="Microsoft YaHei"/>
                <a:ea typeface="Microsoft YaHei"/>
              </a:rPr>
              <a:t xml:space="preserve"> ④ </a:t>
            </a:r>
            <a:r>
              <a:rPr lang="zh-CN" sz="938">
                <a:solidFill>
                  <a:srgbClr val="E9F1EC">
                    <a:alpha val="40000"/>
                  </a:srgbClr>
                </a:solidFill>
                <a:latin typeface="Microsoft YaHei"/>
                <a:ea typeface="Microsoft YaHei"/>
              </a:rPr>
              <a:t>步，</a:t>
            </a:r>
            <a:r>
              <a:rPr lang="en-US" sz="938">
                <a:solidFill>
                  <a:srgbClr val="E9F1EC">
                    <a:alpha val="40000"/>
                  </a:srgbClr>
                </a:solidFill>
                <a:latin typeface="Microsoft YaHei"/>
                <a:ea typeface="Microsoft YaHei"/>
              </a:rPr>
              <a:t xml:space="preserve">Demo </a:t>
            </a:r>
            <a:r>
              <a:rPr lang="zh-CN" sz="938">
                <a:solidFill>
                  <a:srgbClr val="E9F1EC">
                    <a:alpha val="40000"/>
                  </a:srgbClr>
                </a:solidFill>
                <a:latin typeface="Microsoft YaHei"/>
                <a:ea typeface="Microsoft YaHei"/>
              </a:rPr>
              <a:t>仍然成立——这就是下限。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7715250" y="4086225"/>
            <a:ext cx="3619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E9F1EC">
                    <a:alpha val="45000"/>
                  </a:srgbClr>
                </a:solidFill>
                <a:latin typeface="Microsoft YaHei"/>
                <a:ea typeface="Microsoft YaHei"/>
              </a:rPr>
              <a:t>没有它，后面的所有计划都是纸上的</a:t>
            </a:r>
            <a:endParaRPr/>
          </a:p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7715250" y="4552950"/>
            <a:ext cx="3619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E9F1EC">
                    <a:alpha val="45000"/>
                  </a:srgbClr>
                </a:solidFill>
                <a:latin typeface="Microsoft YaHei"/>
                <a:ea typeface="Microsoft YaHei"/>
              </a:rPr>
              <a:t>再写就没人有时间彩排</a:t>
            </a:r>
            <a:endParaRPr/>
          </a:p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7715250" y="5019675"/>
            <a:ext cx="3619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E9F1EC">
                    <a:alpha val="45000"/>
                  </a:srgbClr>
                </a:solidFill>
                <a:latin typeface="Microsoft YaHei"/>
                <a:ea typeface="Microsoft YaHei"/>
              </a:rPr>
              <a:t>讲不完的</a:t>
            </a:r>
            <a:r>
              <a:rPr lang="en-US" sz="938">
                <a:solidFill>
                  <a:srgbClr val="E9F1EC">
                    <a:alpha val="45000"/>
                  </a:srgbClr>
                </a:solidFill>
                <a:latin typeface="Microsoft YaHei"/>
                <a:ea typeface="Microsoft YaHei"/>
              </a:rPr>
              <a:t xml:space="preserve"> Demo</a:t>
            </a:r>
            <a:r>
              <a:rPr lang="zh-CN" sz="938">
                <a:solidFill>
                  <a:srgbClr val="E9F1EC">
                    <a:alpha val="45000"/>
                  </a:srgbClr>
                </a:solidFill>
                <a:latin typeface="Microsoft YaHei"/>
                <a:ea typeface="Microsoft YaHei"/>
              </a:rPr>
              <a:t>，等于没做</a:t>
            </a:r>
            <a:endParaRPr/>
          </a:p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685800" y="6086475"/>
            <a:ext cx="16287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E9F1EC">
                    <a:alpha val="38000"/>
                  </a:srgbClr>
                </a:solidFill>
                <a:latin typeface="Microsoft YaHei"/>
                <a:ea typeface="Microsoft YaHei"/>
              </a:rPr>
              <a:t xml:space="preserve">TRAE </a:t>
            </a:r>
            <a:r>
              <a:rPr lang="zh-CN" sz="900">
                <a:solidFill>
                  <a:srgbClr val="E9F1EC">
                    <a:alpha val="38000"/>
                  </a:srgbClr>
                </a:solidFill>
                <a:latin typeface="Microsoft YaHei"/>
                <a:ea typeface="Microsoft YaHei"/>
              </a:rPr>
              <a:t>高效开发实战</a:t>
            </a:r>
            <a:r>
              <a:rPr lang="en-US" sz="900">
                <a:solidFill>
                  <a:srgbClr val="E9F1EC">
                    <a:alpha val="38000"/>
                  </a:srgbClr>
                </a:solidFill>
                <a:latin typeface="Microsoft YaHei"/>
                <a:ea typeface="Microsoft YaHei"/>
              </a:rPr>
              <a:t xml:space="preserve"> · 1024 </a:t>
            </a:r>
            <a:r>
              <a:rPr lang="zh-CN" sz="900">
                <a:solidFill>
                  <a:srgbClr val="E9F1EC">
                    <a:alpha val="38000"/>
                  </a:srgbClr>
                </a:solidFill>
                <a:latin typeface="Microsoft YaHei"/>
                <a:ea typeface="Microsoft YaHei"/>
              </a:rPr>
              <a:t>济宁</a:t>
            </a:r>
            <a:endParaRPr/>
          </a:p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11115675" y="608647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E9F1EC">
                    <a:alpha val="38000"/>
                  </a:srgbClr>
                </a:solidFill>
                <a:latin typeface="Microsoft YaHei"/>
                <a:ea typeface="Microsoft YaHei"/>
              </a:rPr>
              <a:t>09 / 11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D0C"/>
          </a:solidFill>
          <a:ln/>
        </p:spPr>
        <p:txBody>
          <a:bodyPr/>
          <a:p>
            <a:pPr/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685800" y="38100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 spc="38">
                <a:solidFill>
                  <a:srgbClr val="E9F1EC"/>
                </a:solidFill>
                <a:latin typeface="Microsoft YaHei"/>
                <a:ea typeface="Microsoft YaHei"/>
              </a:rPr>
              <a:t>八种翻车方式，和上台前的七项自检</a:t>
            </a:r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685800" y="1362075"/>
            <a:ext cx="38100" cy="133350"/>
          </a:xfrm>
          <a:prstGeom prst="rect">
            <a:avLst/>
          </a:prstGeom>
          <a:solidFill>
            <a:srgbClr val="3DDC84"/>
          </a:solidFill>
          <a:ln/>
        </p:spPr>
        <p:txBody>
          <a:bodyPr/>
          <a:p>
            <a:pPr/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819150" y="1352550"/>
            <a:ext cx="2733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150">
                <a:solidFill>
                  <a:srgbClr val="3DDC84"/>
                </a:solidFill>
                <a:latin typeface="Microsoft YaHei"/>
                <a:ea typeface="Microsoft YaHei"/>
              </a:rPr>
              <a:t>反模式</a:t>
            </a:r>
            <a:r>
              <a:rPr lang="en-US" sz="975" spc="150">
                <a:solidFill>
                  <a:srgbClr val="3DDC84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 spc="150">
                <a:solidFill>
                  <a:srgbClr val="3DDC84"/>
                </a:solidFill>
                <a:latin typeface="Microsoft YaHei"/>
                <a:ea typeface="Microsoft YaHei"/>
              </a:rPr>
              <a:t>出现任意一条，当天大概率演不完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685800" y="1905000"/>
            <a:ext cx="3400425" cy="2667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63">
                <a:solidFill>
                  <a:srgbClr val="E9F1EC"/>
                </a:solidFill>
                <a:latin typeface="Microsoft YaHei"/>
                <a:ea typeface="Microsoft YaHei"/>
              </a:rPr>
              <a:t>让</a:t>
            </a:r>
            <a:r>
              <a:rPr lang="en-US" sz="1163">
                <a:solidFill>
                  <a:srgbClr val="E9F1EC"/>
                </a:solidFill>
                <a:latin typeface="Microsoft YaHei"/>
                <a:ea typeface="Microsoft YaHei"/>
              </a:rPr>
              <a:t xml:space="preserve"> TRAE </a:t>
            </a:r>
            <a:r>
              <a:rPr lang="zh-CN" sz="1163">
                <a:solidFill>
                  <a:srgbClr val="E9F1EC"/>
                </a:solidFill>
                <a:latin typeface="Microsoft YaHei"/>
                <a:ea typeface="Microsoft YaHei"/>
              </a:rPr>
              <a:t>自由发挥产品方向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685800" y="2905125"/>
            <a:ext cx="3400425" cy="2667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63">
                <a:solidFill>
                  <a:srgbClr val="E9F1EC"/>
                </a:solidFill>
                <a:latin typeface="Microsoft YaHei"/>
                <a:ea typeface="Microsoft YaHei"/>
              </a:rPr>
              <a:t>边写边加需求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685800" y="3905250"/>
            <a:ext cx="3400425" cy="2667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63">
                <a:solidFill>
                  <a:srgbClr val="E9F1EC"/>
                </a:solidFill>
                <a:latin typeface="Microsoft YaHei"/>
                <a:ea typeface="Microsoft YaHei"/>
              </a:rPr>
              <a:t>三个人改同一个文件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685800" y="4905375"/>
            <a:ext cx="3400425" cy="2667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63">
                <a:solidFill>
                  <a:srgbClr val="E9F1EC"/>
                </a:solidFill>
                <a:latin typeface="Microsoft YaHei"/>
                <a:ea typeface="Microsoft YaHei"/>
              </a:rPr>
              <a:t>现场装依赖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4410075" y="1905000"/>
            <a:ext cx="3400425" cy="2667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63">
                <a:solidFill>
                  <a:srgbClr val="E9F1EC"/>
                </a:solidFill>
                <a:latin typeface="Microsoft YaHei"/>
                <a:ea typeface="Microsoft YaHei"/>
              </a:rPr>
              <a:t>用真实</a:t>
            </a:r>
            <a:r>
              <a:rPr lang="en-US" sz="1163">
                <a:solidFill>
                  <a:srgbClr val="E9F1EC"/>
                </a:solidFill>
                <a:latin typeface="Microsoft YaHei"/>
                <a:ea typeface="Microsoft YaHei"/>
              </a:rPr>
              <a:t xml:space="preserve"> API </a:t>
            </a:r>
            <a:r>
              <a:rPr lang="zh-CN" sz="1163">
                <a:solidFill>
                  <a:srgbClr val="E9F1EC"/>
                </a:solidFill>
                <a:latin typeface="Microsoft YaHei"/>
                <a:ea typeface="Microsoft YaHei"/>
              </a:rPr>
              <a:t>赌现场网络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4410075" y="2905125"/>
            <a:ext cx="3400425" cy="2667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63">
                <a:solidFill>
                  <a:srgbClr val="E9F1EC"/>
                </a:solidFill>
                <a:latin typeface="Microsoft YaHei"/>
                <a:ea typeface="Microsoft YaHei"/>
              </a:rPr>
              <a:t>把「能跑」当成「能演」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4410075" y="3905250"/>
            <a:ext cx="3400425" cy="2667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63">
                <a:solidFill>
                  <a:srgbClr val="E9F1EC"/>
                </a:solidFill>
                <a:latin typeface="Microsoft YaHei"/>
                <a:ea typeface="Microsoft YaHei"/>
              </a:rPr>
              <a:t>追求功能数量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4410075" y="4905375"/>
            <a:ext cx="3400425" cy="2667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63">
                <a:solidFill>
                  <a:srgbClr val="E9F1EC"/>
                </a:solidFill>
                <a:latin typeface="Microsoft YaHei"/>
                <a:ea typeface="Microsoft YaHei"/>
              </a:rPr>
              <a:t>密钥写进代码或提交历史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8153400" y="1352550"/>
            <a:ext cx="3352800" cy="4629150"/>
          </a:xfrm>
          <a:prstGeom prst="roundRect">
            <a:avLst>
              <a:gd name="adj" fmla="val 1136"/>
            </a:avLst>
          </a:prstGeom>
          <a:solidFill>
            <a:srgbClr val="1A2620"/>
          </a:solidFill>
          <a:ln w="12700">
            <a:solidFill>
              <a:srgbClr val="3DDC84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8362950" y="1562100"/>
            <a:ext cx="2933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150">
                <a:solidFill>
                  <a:srgbClr val="3DDC84"/>
                </a:solidFill>
                <a:latin typeface="Microsoft YaHei"/>
                <a:ea typeface="Microsoft YaHei"/>
              </a:rPr>
              <a:t>上台前</a:t>
            </a:r>
            <a:r>
              <a:rPr lang="en-US" sz="975" spc="150">
                <a:solidFill>
                  <a:srgbClr val="3DDC84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 spc="150">
                <a:solidFill>
                  <a:srgbClr val="3DDC84"/>
                </a:solidFill>
                <a:latin typeface="Microsoft YaHei"/>
                <a:ea typeface="Microsoft YaHei"/>
              </a:rPr>
              <a:t>七项自检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8362950" y="2247900"/>
            <a:ext cx="114300" cy="114300"/>
          </a:xfrm>
          <a:prstGeom prst="roundRect">
            <a:avLst>
              <a:gd name="adj" fmla="val 16667"/>
            </a:avLst>
          </a:prstGeom>
          <a:ln w="12700">
            <a:solidFill>
              <a:srgbClr val="3DDC84">
                <a:alpha val="5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5" name=""/>
          <p:cNvSpPr/>
          <p:nvPr/>
        </p:nvSpPr>
        <p:spPr>
          <a:xfrm rot="0" flipH="0" flipV="0">
            <a:off x="8362950" y="2543175"/>
            <a:ext cx="114300" cy="114300"/>
          </a:xfrm>
          <a:prstGeom prst="roundRect">
            <a:avLst>
              <a:gd name="adj" fmla="val 16667"/>
            </a:avLst>
          </a:prstGeom>
          <a:ln w="12700">
            <a:solidFill>
              <a:srgbClr val="3DDC84">
                <a:alpha val="5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8362950" y="2838450"/>
            <a:ext cx="114300" cy="114300"/>
          </a:xfrm>
          <a:prstGeom prst="roundRect">
            <a:avLst>
              <a:gd name="adj" fmla="val 16667"/>
            </a:avLst>
          </a:prstGeom>
          <a:ln w="12700">
            <a:solidFill>
              <a:srgbClr val="3DDC84">
                <a:alpha val="5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7" name=""/>
          <p:cNvSpPr/>
          <p:nvPr/>
        </p:nvSpPr>
        <p:spPr>
          <a:xfrm rot="0" flipH="0" flipV="0">
            <a:off x="8362950" y="3133725"/>
            <a:ext cx="114300" cy="114300"/>
          </a:xfrm>
          <a:prstGeom prst="roundRect">
            <a:avLst>
              <a:gd name="adj" fmla="val 16667"/>
            </a:avLst>
          </a:prstGeom>
          <a:ln w="12700">
            <a:solidFill>
              <a:srgbClr val="3DDC84">
                <a:alpha val="5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8362950" y="3429000"/>
            <a:ext cx="114300" cy="114300"/>
          </a:xfrm>
          <a:prstGeom prst="roundRect">
            <a:avLst>
              <a:gd name="adj" fmla="val 16667"/>
            </a:avLst>
          </a:prstGeom>
          <a:ln w="12700">
            <a:solidFill>
              <a:srgbClr val="3DDC84">
                <a:alpha val="5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8362950" y="3724275"/>
            <a:ext cx="114300" cy="114300"/>
          </a:xfrm>
          <a:prstGeom prst="roundRect">
            <a:avLst>
              <a:gd name="adj" fmla="val 16667"/>
            </a:avLst>
          </a:prstGeom>
          <a:ln w="12700">
            <a:solidFill>
              <a:srgbClr val="3DDC84">
                <a:alpha val="5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8362950" y="4019550"/>
            <a:ext cx="114300" cy="114300"/>
          </a:xfrm>
          <a:prstGeom prst="roundRect">
            <a:avLst>
              <a:gd name="adj" fmla="val 16667"/>
            </a:avLst>
          </a:prstGeom>
          <a:ln w="12700">
            <a:solidFill>
              <a:srgbClr val="3DDC84">
                <a:alpha val="5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8362950" y="5172075"/>
            <a:ext cx="2933700" cy="609600"/>
          </a:xfrm>
          <a:custGeom>
            <a:pathLst>
              <a:path w="308" h="64">
                <a:moveTo>
                  <a:pt x="0" y="0"/>
                </a:moveTo>
                <a:lnTo>
                  <a:pt x="308" y="0"/>
                </a:lnTo>
                <a:lnTo>
                  <a:pt x="308" y="1"/>
                </a:lnTo>
                <a:lnTo>
                  <a:pt x="0" y="1"/>
                </a:lnTo>
                <a:close/>
              </a:path>
            </a:pathLst>
          </a:custGeom>
          <a:solidFill>
            <a:srgbClr val="E9F1EC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8362950" y="5334000"/>
            <a:ext cx="2933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3DDC84"/>
                </a:solidFill>
                <a:latin typeface="Microsoft YaHei"/>
                <a:ea typeface="Microsoft YaHei"/>
              </a:rPr>
              <a:t>七条全过再上台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685800" y="866775"/>
            <a:ext cx="10820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9F1EC">
                    <a:alpha val="55000"/>
                  </a:srgbClr>
                </a:solidFill>
                <a:latin typeface="Microsoft YaHei"/>
                <a:ea typeface="Microsoft YaHei"/>
              </a:rPr>
              <a:t>左边这些坑我们踩过大半；右边这份清单，是上台前十分钟最后过一遍的东西。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685800" y="1695450"/>
            <a:ext cx="3400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9F1EC">
                    <a:alpha val="40000"/>
                  </a:srgbClr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685800" y="2228850"/>
            <a:ext cx="3400425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>
                <a:solidFill>
                  <a:srgbClr val="E9F1EC">
                    <a:alpha val="45000"/>
                  </a:srgbClr>
                </a:solidFill>
                <a:latin typeface="Microsoft YaHei"/>
                <a:ea typeface="Microsoft YaHei"/>
              </a:rPr>
              <a:t>它会给你一个</a:t>
            </a:r>
            <a:r>
              <a:rPr lang="en-US" sz="938">
                <a:solidFill>
                  <a:srgbClr val="E9F1EC">
                    <a:alpha val="45000"/>
                  </a:srgbClr>
                </a:solidFill>
                <a:latin typeface="Microsoft YaHei"/>
                <a:ea typeface="Microsoft YaHei"/>
              </a:rPr>
              <a:t>"</a:t>
            </a:r>
            <a:r>
              <a:rPr lang="zh-CN" sz="938">
                <a:solidFill>
                  <a:srgbClr val="E9F1EC">
                    <a:alpha val="45000"/>
                  </a:srgbClr>
                </a:solidFill>
                <a:latin typeface="Microsoft YaHei"/>
                <a:ea typeface="Microsoft YaHei"/>
              </a:rPr>
              <a:t>合理</a:t>
            </a:r>
            <a:r>
              <a:rPr lang="en-US" sz="938">
                <a:solidFill>
                  <a:srgbClr val="E9F1EC">
                    <a:alpha val="45000"/>
                  </a:srgbClr>
                </a:solidFill>
                <a:latin typeface="Microsoft YaHei"/>
                <a:ea typeface="Microsoft YaHei"/>
              </a:rPr>
              <a:t>"</a:t>
            </a:r>
            <a:r>
              <a:rPr lang="zh-CN" sz="938">
                <a:solidFill>
                  <a:srgbClr val="E9F1EC">
                    <a:alpha val="45000"/>
                  </a:srgbClr>
                </a:solidFill>
                <a:latin typeface="Microsoft YaHei"/>
                <a:ea typeface="Microsoft YaHei"/>
              </a:rPr>
              <a:t>的产品，但不是能演的那个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685800" y="2695575"/>
            <a:ext cx="3400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9F1EC">
                    <a:alpha val="40000"/>
                  </a:srgbClr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685800" y="3228975"/>
            <a:ext cx="3400425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>
                <a:solidFill>
                  <a:srgbClr val="E9F1EC">
                    <a:alpha val="45000"/>
                  </a:srgbClr>
                </a:solidFill>
                <a:latin typeface="Microsoft YaHei"/>
                <a:ea typeface="Microsoft YaHei"/>
              </a:rPr>
              <a:t>每加一条，三态就要重测一次，时间是复利式消耗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685800" y="3695700"/>
            <a:ext cx="3400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9F1EC">
                    <a:alpha val="40000"/>
                  </a:srgbClr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685800" y="4229100"/>
            <a:ext cx="3400425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>
                <a:solidFill>
                  <a:srgbClr val="E9F1EC">
                    <a:alpha val="45000"/>
                  </a:srgbClr>
                </a:solidFill>
                <a:latin typeface="Microsoft YaHei"/>
                <a:ea typeface="Microsoft YaHei"/>
              </a:rPr>
              <a:t>合并冲突会吃掉你最后的彩排时间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685800" y="4695825"/>
            <a:ext cx="3400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9F1EC">
                    <a:alpha val="40000"/>
                  </a:srgbClr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685800" y="5229225"/>
            <a:ext cx="3400425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38">
                <a:solidFill>
                  <a:srgbClr val="E9F1EC">
                    <a:alpha val="45000"/>
                  </a:srgbClr>
                </a:solidFill>
                <a:latin typeface="Microsoft YaHei"/>
                <a:ea typeface="Microsoft YaHei"/>
              </a:rPr>
              <a:t xml:space="preserve">npm install / pip install </a:t>
            </a:r>
            <a:r>
              <a:rPr lang="zh-CN" sz="938">
                <a:solidFill>
                  <a:srgbClr val="E9F1EC">
                    <a:alpha val="45000"/>
                  </a:srgbClr>
                </a:solidFill>
                <a:latin typeface="Microsoft YaHei"/>
                <a:ea typeface="Microsoft YaHei"/>
              </a:rPr>
              <a:t>是现场最不可控的一步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4410075" y="1695450"/>
            <a:ext cx="3400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9F1EC">
                    <a:alpha val="40000"/>
                  </a:srgbClr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4410075" y="2228850"/>
            <a:ext cx="3400425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>
                <a:solidFill>
                  <a:srgbClr val="E9F1EC">
                    <a:alpha val="45000"/>
                  </a:srgbClr>
                </a:solidFill>
                <a:latin typeface="Microsoft YaHei"/>
                <a:ea typeface="Microsoft YaHei"/>
              </a:rPr>
              <a:t>会场</a:t>
            </a:r>
            <a:r>
              <a:rPr lang="en-US" sz="938">
                <a:solidFill>
                  <a:srgbClr val="E9F1EC">
                    <a:alpha val="45000"/>
                  </a:srgbClr>
                </a:solidFill>
                <a:latin typeface="Microsoft YaHei"/>
                <a:ea typeface="Microsoft YaHei"/>
              </a:rPr>
              <a:t xml:space="preserve"> WiFi</a:t>
            </a:r>
            <a:r>
              <a:rPr lang="zh-CN" sz="938">
                <a:solidFill>
                  <a:srgbClr val="E9F1EC">
                    <a:alpha val="45000"/>
                  </a:srgbClr>
                </a:solidFill>
                <a:latin typeface="Microsoft YaHei"/>
                <a:ea typeface="Microsoft YaHei"/>
              </a:rPr>
              <a:t>、额度、限流，三样都不归你管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4410075" y="2695575"/>
            <a:ext cx="3400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9F1EC">
                    <a:alpha val="40000"/>
                  </a:srgbClr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4410075" y="3228975"/>
            <a:ext cx="3400425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>
                <a:solidFill>
                  <a:srgbClr val="E9F1EC">
                    <a:alpha val="45000"/>
                  </a:srgbClr>
                </a:solidFill>
                <a:latin typeface="Microsoft YaHei"/>
                <a:ea typeface="Microsoft YaHei"/>
              </a:rPr>
              <a:t>能跑是给自己看的，能演是给四十个人看的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4410075" y="3695700"/>
            <a:ext cx="3400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9F1EC">
                    <a:alpha val="40000"/>
                  </a:srgbClr>
                </a:solidFill>
                <a:latin typeface="Microsoft YaHei"/>
                <a:ea typeface="Microsoft YaHei"/>
              </a:rPr>
              <a:t>07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4410075" y="4229100"/>
            <a:ext cx="3400425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>
                <a:solidFill>
                  <a:srgbClr val="E9F1EC">
                    <a:alpha val="45000"/>
                  </a:srgbClr>
                </a:solidFill>
                <a:latin typeface="Microsoft YaHei"/>
                <a:ea typeface="Microsoft YaHei"/>
              </a:rPr>
              <a:t>五个半成品不如一个能讲完的主线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4410075" y="4695825"/>
            <a:ext cx="3400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9F1EC">
                    <a:alpha val="40000"/>
                  </a:srgbClr>
                </a:solidFill>
                <a:latin typeface="Microsoft YaHei"/>
                <a:ea typeface="Microsoft YaHei"/>
              </a:rPr>
              <a:t>08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4410075" y="5229225"/>
            <a:ext cx="3400425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38">
                <a:solidFill>
                  <a:srgbClr val="E9F1EC">
                    <a:alpha val="45000"/>
                  </a:srgbClr>
                </a:solidFill>
                <a:latin typeface="Microsoft YaHei"/>
                <a:ea typeface="Microsoft YaHei"/>
              </a:rPr>
              <a:t xml:space="preserve">Demo </a:t>
            </a:r>
            <a:r>
              <a:rPr lang="zh-CN" sz="938">
                <a:solidFill>
                  <a:srgbClr val="E9F1EC">
                    <a:alpha val="45000"/>
                  </a:srgbClr>
                </a:solidFill>
                <a:latin typeface="Microsoft YaHei"/>
                <a:ea typeface="Microsoft YaHei"/>
              </a:rPr>
              <a:t>可以重做，泄漏的</a:t>
            </a:r>
            <a:r>
              <a:rPr lang="en-US" sz="938">
                <a:solidFill>
                  <a:srgbClr val="E9F1EC">
                    <a:alpha val="45000"/>
                  </a:srgbClr>
                </a:solidFill>
                <a:latin typeface="Microsoft YaHei"/>
                <a:ea typeface="Microsoft YaHei"/>
              </a:rPr>
              <a:t xml:space="preserve"> Key </a:t>
            </a:r>
            <a:r>
              <a:rPr lang="zh-CN" sz="938">
                <a:solidFill>
                  <a:srgbClr val="E9F1EC">
                    <a:alpha val="45000"/>
                  </a:srgbClr>
                </a:solidFill>
                <a:latin typeface="Microsoft YaHei"/>
                <a:ea typeface="Microsoft YaHei"/>
              </a:rPr>
              <a:t>收不回来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8362950" y="1790700"/>
            <a:ext cx="2933700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38">
                <a:solidFill>
                  <a:srgbClr val="E9F1EC">
                    <a:alpha val="45000"/>
                  </a:srgbClr>
                </a:solidFill>
                <a:latin typeface="Microsoft YaHei"/>
                <a:ea typeface="Microsoft YaHei"/>
              </a:rPr>
              <a:t>最后十分钟，从上往下逐条过，一条不过就别上台。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8572500" y="2209800"/>
            <a:ext cx="1200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9F1EC">
                    <a:alpha val="78000"/>
                  </a:srgbClr>
                </a:solidFill>
                <a:latin typeface="Microsoft YaHei"/>
                <a:ea typeface="Microsoft YaHei"/>
              </a:rPr>
              <a:t>构建与类型检查通过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8572500" y="2505075"/>
            <a:ext cx="1466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9F1EC">
                    <a:alpha val="78000"/>
                  </a:srgbClr>
                </a:solidFill>
                <a:latin typeface="Microsoft YaHei"/>
                <a:ea typeface="Microsoft YaHei"/>
              </a:rPr>
              <a:t>三态齐全，错误态有重试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8572500" y="2800350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9F1EC">
                    <a:alpha val="78000"/>
                  </a:srgbClr>
                </a:solidFill>
                <a:latin typeface="Microsoft YaHei"/>
                <a:ea typeface="Microsoft YaHei"/>
              </a:rPr>
              <a:t>断网仍能演示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8572500" y="3095625"/>
            <a:ext cx="1266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9F1EC">
                    <a:alpha val="78000"/>
                  </a:srgbClr>
                </a:solidFill>
                <a:latin typeface="Microsoft YaHei"/>
                <a:ea typeface="Microsoft YaHei"/>
              </a:rPr>
              <a:t xml:space="preserve">60 </a:t>
            </a:r>
            <a:r>
              <a:rPr lang="zh-CN" sz="1050">
                <a:solidFill>
                  <a:srgbClr val="E9F1EC">
                    <a:alpha val="78000"/>
                  </a:srgbClr>
                </a:solidFill>
                <a:latin typeface="Microsoft YaHei"/>
                <a:ea typeface="Microsoft YaHei"/>
              </a:rPr>
              <a:t>秒脚本彩排过两遍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8572500" y="3390900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9F1EC">
                    <a:alpha val="78000"/>
                  </a:srgbClr>
                </a:solidFill>
                <a:latin typeface="Microsoft YaHei"/>
                <a:ea typeface="Microsoft YaHei"/>
              </a:rPr>
              <a:t>有录屏兜底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8572500" y="3686175"/>
            <a:ext cx="1581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9F1EC">
                    <a:alpha val="78000"/>
                  </a:srgbClr>
                </a:solidFill>
                <a:latin typeface="Microsoft YaHei"/>
                <a:ea typeface="Microsoft YaHei"/>
              </a:rPr>
              <a:t>无密码</a:t>
            </a:r>
            <a:r>
              <a:rPr lang="en-US" sz="1050">
                <a:solidFill>
                  <a:srgbClr val="E9F1EC">
                    <a:alpha val="78000"/>
                  </a:srgbClr>
                </a:solidFill>
                <a:latin typeface="Microsoft YaHei"/>
                <a:ea typeface="Microsoft YaHei"/>
              </a:rPr>
              <a:t xml:space="preserve"> / Token / </a:t>
            </a:r>
            <a:r>
              <a:rPr lang="zh-CN" sz="1050">
                <a:solidFill>
                  <a:srgbClr val="E9F1EC">
                    <a:alpha val="78000"/>
                  </a:srgbClr>
                </a:solidFill>
                <a:latin typeface="Microsoft YaHei"/>
                <a:ea typeface="Microsoft YaHei"/>
              </a:rPr>
              <a:t>内网地址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8572500" y="3981450"/>
            <a:ext cx="2400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9F1EC">
                    <a:alpha val="78000"/>
                  </a:srgbClr>
                </a:solidFill>
                <a:latin typeface="Microsoft YaHei"/>
                <a:ea typeface="Microsoft YaHei"/>
              </a:rPr>
              <a:t xml:space="preserve">git status </a:t>
            </a:r>
            <a:r>
              <a:rPr lang="zh-CN" sz="1050">
                <a:solidFill>
                  <a:srgbClr val="E9F1EC">
                    <a:alpha val="78000"/>
                  </a:srgbClr>
                </a:solidFill>
                <a:latin typeface="Microsoft YaHei"/>
                <a:ea typeface="Microsoft YaHei"/>
              </a:rPr>
              <a:t>干净，最后一次</a:t>
            </a:r>
            <a:r>
              <a:rPr lang="en-US" sz="1050">
                <a:solidFill>
                  <a:srgbClr val="E9F1EC">
                    <a:alpha val="78000"/>
                  </a:srgbClr>
                </a:solidFill>
                <a:latin typeface="Microsoft YaHei"/>
                <a:ea typeface="Microsoft YaHei"/>
              </a:rPr>
              <a:t xml:space="preserve"> commit </a:t>
            </a:r>
            <a:r>
              <a:rPr lang="zh-CN" sz="1050">
                <a:solidFill>
                  <a:srgbClr val="E9F1EC">
                    <a:alpha val="78000"/>
                  </a:srgbClr>
                </a:solidFill>
                <a:latin typeface="Microsoft YaHei"/>
                <a:ea typeface="Microsoft YaHei"/>
              </a:rPr>
              <a:t>能跑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8362950" y="5543550"/>
            <a:ext cx="2933700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38">
                <a:solidFill>
                  <a:srgbClr val="E9F1EC">
                    <a:alpha val="45000"/>
                  </a:srgbClr>
                </a:solidFill>
                <a:latin typeface="Microsoft YaHei"/>
                <a:ea typeface="Microsoft YaHei"/>
              </a:rPr>
              <a:t>有一条不过就先修它——台下不会给你第二次机会。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685800" y="6086475"/>
            <a:ext cx="16287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E9F1EC">
                    <a:alpha val="38000"/>
                  </a:srgbClr>
                </a:solidFill>
                <a:latin typeface="Microsoft YaHei"/>
                <a:ea typeface="Microsoft YaHei"/>
              </a:rPr>
              <a:t xml:space="preserve">TRAE </a:t>
            </a:r>
            <a:r>
              <a:rPr lang="zh-CN" sz="900">
                <a:solidFill>
                  <a:srgbClr val="E9F1EC">
                    <a:alpha val="38000"/>
                  </a:srgbClr>
                </a:solidFill>
                <a:latin typeface="Microsoft YaHei"/>
                <a:ea typeface="Microsoft YaHei"/>
              </a:rPr>
              <a:t>高效开发实战</a:t>
            </a:r>
            <a:r>
              <a:rPr lang="en-US" sz="900">
                <a:solidFill>
                  <a:srgbClr val="E9F1EC">
                    <a:alpha val="38000"/>
                  </a:srgbClr>
                </a:solidFill>
                <a:latin typeface="Microsoft YaHei"/>
                <a:ea typeface="Microsoft YaHei"/>
              </a:rPr>
              <a:t xml:space="preserve"> · 1024 </a:t>
            </a:r>
            <a:r>
              <a:rPr lang="zh-CN" sz="900">
                <a:solidFill>
                  <a:srgbClr val="E9F1EC">
                    <a:alpha val="38000"/>
                  </a:srgbClr>
                </a:solidFill>
                <a:latin typeface="Microsoft YaHei"/>
                <a:ea typeface="Microsoft YaHei"/>
              </a:rPr>
              <a:t>济宁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11115675" y="608647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E9F1EC">
                    <a:alpha val="38000"/>
                  </a:srgbClr>
                </a:solidFill>
                <a:latin typeface="Microsoft YaHei"/>
                <a:ea typeface="Microsoft YaHei"/>
              </a:rPr>
              <a:t>10 / 11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D0C"/>
          </a:solidFill>
          <a:ln/>
        </p:spPr>
        <p:txBody>
          <a:bodyPr/>
          <a:p>
            <a:pPr/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685800" y="790575"/>
            <a:ext cx="247650" cy="19050"/>
          </a:xfrm>
          <a:prstGeom prst="rect">
            <a:avLst/>
          </a:prstGeom>
          <a:solidFill>
            <a:srgbClr val="3DDC84"/>
          </a:solidFill>
          <a:ln/>
        </p:spPr>
        <p:txBody>
          <a:bodyPr/>
          <a:p>
            <a:pPr/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1047750" y="723900"/>
            <a:ext cx="1524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225">
                <a:solidFill>
                  <a:srgbClr val="3DDC84"/>
                </a:solidFill>
                <a:latin typeface="Microsoft YaHei"/>
                <a:ea typeface="Microsoft YaHei"/>
              </a:rPr>
              <a:t>如果今天只记住一句话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685800" y="1085850"/>
            <a:ext cx="6362700" cy="7429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3750" b="1" spc="75">
                <a:solidFill>
                  <a:srgbClr val="E9F1EC"/>
                </a:solidFill>
                <a:latin typeface="Microsoft YaHei"/>
                <a:ea typeface="Microsoft YaHei"/>
              </a:rPr>
              <a:t>能演完的</a:t>
            </a:r>
            <a:r>
              <a:rPr lang="en-US" sz="3750" b="1" spc="75">
                <a:solidFill>
                  <a:srgbClr val="E9F1EC"/>
                </a:solidFill>
                <a:latin typeface="Microsoft YaHei"/>
                <a:ea typeface="Microsoft YaHei"/>
              </a:rPr>
              <a:t xml:space="preserve"> 60 </a:t>
            </a:r>
            <a:r>
              <a:rPr lang="zh-CN" sz="3750" b="1" spc="75">
                <a:solidFill>
                  <a:srgbClr val="E9F1EC"/>
                </a:solidFill>
                <a:latin typeface="Microsoft YaHei"/>
                <a:ea typeface="Microsoft YaHei"/>
              </a:rPr>
              <a:t>分，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685800" y="1828800"/>
            <a:ext cx="6362700" cy="7429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3750" b="1" spc="75">
                <a:solidFill>
                  <a:srgbClr val="3DDC84"/>
                </a:solidFill>
                <a:latin typeface="Microsoft YaHei"/>
                <a:ea typeface="Microsoft YaHei"/>
              </a:rPr>
              <a:t>胜过没演完的</a:t>
            </a:r>
            <a:r>
              <a:rPr lang="en-US" sz="3750" b="1" spc="75">
                <a:solidFill>
                  <a:srgbClr val="3DDC84"/>
                </a:solidFill>
                <a:latin typeface="Microsoft YaHei"/>
                <a:ea typeface="Microsoft YaHei"/>
              </a:rPr>
              <a:t xml:space="preserve"> 100 </a:t>
            </a:r>
            <a:r>
              <a:rPr lang="zh-CN" sz="3750" b="1" spc="75">
                <a:solidFill>
                  <a:srgbClr val="3DDC84"/>
                </a:solidFill>
                <a:latin typeface="Microsoft YaHei"/>
                <a:ea typeface="Microsoft YaHei"/>
              </a:rPr>
              <a:t>分。</a:t>
            </a:r>
            <a:endParaRPr/>
          </a:p>
        </p:txBody>
      </p:sp>
      <p:sp>
        <p:nvSpPr>
          <p:cNvPr id="87" name=""/>
          <p:cNvSpPr/>
          <p:nvPr/>
        </p:nvSpPr>
        <p:spPr>
          <a:xfrm rot="0" flipH="0" flipV="0">
            <a:off x="7505700" y="723900"/>
            <a:ext cx="3619500" cy="3067050"/>
          </a:xfrm>
          <a:custGeom>
            <a:pathLst>
              <a:path w="380" h="322">
                <a:moveTo>
                  <a:pt x="0" y="0"/>
                </a:moveTo>
                <a:lnTo>
                  <a:pt x="1" y="0"/>
                </a:lnTo>
                <a:lnTo>
                  <a:pt x="1" y="322"/>
                </a:lnTo>
                <a:lnTo>
                  <a:pt x="0" y="322"/>
                </a:lnTo>
                <a:close/>
              </a:path>
            </a:pathLst>
          </a:custGeom>
          <a:solidFill>
            <a:srgbClr val="E9F1EC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7781925" y="1019175"/>
            <a:ext cx="33432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3DDC84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7781925" y="1209675"/>
            <a:ext cx="334327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E9F1EC"/>
                </a:solidFill>
                <a:latin typeface="Microsoft YaHei"/>
                <a:ea typeface="Microsoft YaHei"/>
              </a:rPr>
              <a:t>演示动线先于代码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7781925" y="1638300"/>
            <a:ext cx="33432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3DDC84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7781925" y="1828800"/>
            <a:ext cx="334327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E9F1EC"/>
                </a:solidFill>
                <a:latin typeface="Microsoft YaHei"/>
                <a:ea typeface="Microsoft YaHei"/>
              </a:rPr>
              <a:t>并行之前先冻结接口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7781925" y="2257425"/>
            <a:ext cx="33432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3DDC84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7781925" y="2447925"/>
            <a:ext cx="334327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E9F1EC"/>
                </a:solidFill>
                <a:latin typeface="Microsoft YaHei"/>
                <a:ea typeface="Microsoft YaHei"/>
              </a:rPr>
              <a:t>稳定性优先于完整性</a:t>
            </a:r>
            <a:endParaRPr/>
          </a:p>
        </p:txBody>
      </p:sp>
      <p:sp>
        <p:nvSpPr>
          <p:cNvPr id="94" name=""/>
          <p:cNvSpPr/>
          <p:nvPr/>
        </p:nvSpPr>
        <p:spPr>
          <a:xfrm rot="0" flipH="0" flipV="0">
            <a:off x="685800" y="3848100"/>
            <a:ext cx="10820400" cy="828675"/>
          </a:xfrm>
          <a:custGeom>
            <a:pathLst>
              <a:path w="1136" h="87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E9F1EC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685800" y="3848100"/>
            <a:ext cx="10820400" cy="828675"/>
          </a:xfrm>
          <a:custGeom>
            <a:pathLst>
              <a:path w="1136" h="87">
                <a:moveTo>
                  <a:pt x="0" y="86"/>
                </a:moveTo>
                <a:lnTo>
                  <a:pt x="1136" y="86"/>
                </a:lnTo>
                <a:lnTo>
                  <a:pt x="1136" y="87"/>
                </a:lnTo>
                <a:lnTo>
                  <a:pt x="0" y="87"/>
                </a:lnTo>
                <a:close/>
              </a:path>
            </a:pathLst>
          </a:custGeom>
          <a:solidFill>
            <a:srgbClr val="E9F1EC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685800" y="4067175"/>
            <a:ext cx="1905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3DDC84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2447925" y="4143375"/>
            <a:ext cx="9525" cy="228600"/>
          </a:xfrm>
          <a:prstGeom prst="rect">
            <a:avLst/>
          </a:prstGeom>
          <a:solidFill>
            <a:srgbClr val="E9F1EC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2838450" y="4067175"/>
            <a:ext cx="75247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3DDC84"/>
                </a:solidFill>
                <a:latin typeface="Microsoft YaHei"/>
                <a:ea typeface="Microsoft YaHei"/>
              </a:rPr>
              <a:t>1331</a:t>
            </a:r>
            <a:endParaRPr/>
          </a:p>
        </p:txBody>
      </p:sp>
      <p:sp>
        <p:nvSpPr>
          <p:cNvPr id="99" name=""/>
          <p:cNvSpPr/>
          <p:nvPr/>
        </p:nvSpPr>
        <p:spPr>
          <a:xfrm rot="0" flipH="0" flipV="0">
            <a:off x="5534025" y="4143375"/>
            <a:ext cx="9525" cy="228600"/>
          </a:xfrm>
          <a:prstGeom prst="rect">
            <a:avLst/>
          </a:prstGeom>
          <a:solidFill>
            <a:srgbClr val="E9F1EC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5924550" y="4067175"/>
            <a:ext cx="69532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3DDC84"/>
                </a:solidFill>
                <a:latin typeface="Microsoft YaHei"/>
                <a:ea typeface="Microsoft YaHei"/>
              </a:rPr>
              <a:t>2.6×</a:t>
            </a:r>
            <a:endParaRPr/>
          </a:p>
        </p:txBody>
      </p:sp>
      <p:sp>
        <p:nvSpPr>
          <p:cNvPr id="101" name=""/>
          <p:cNvSpPr/>
          <p:nvPr/>
        </p:nvSpPr>
        <p:spPr>
          <a:xfrm rot="0" flipH="0" flipV="0">
            <a:off x="8439150" y="4143375"/>
            <a:ext cx="9525" cy="228600"/>
          </a:xfrm>
          <a:prstGeom prst="rect">
            <a:avLst/>
          </a:prstGeom>
          <a:solidFill>
            <a:srgbClr val="E9F1EC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8829675" y="4067175"/>
            <a:ext cx="381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3DDC84"/>
                </a:solidFill>
                <a:latin typeface="Microsoft YaHei"/>
                <a:ea typeface="Microsoft YaHei"/>
              </a:rPr>
              <a:t>90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685800" y="5267325"/>
            <a:ext cx="3238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150">
                <a:solidFill>
                  <a:srgbClr val="3DDC84"/>
                </a:solidFill>
                <a:latin typeface="Microsoft YaHei"/>
                <a:ea typeface="Microsoft YaHei"/>
              </a:rPr>
              <a:t>明天就能做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4305300" y="5267325"/>
            <a:ext cx="3238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150">
                <a:solidFill>
                  <a:srgbClr val="3DDC84"/>
                </a:solidFill>
                <a:latin typeface="Microsoft YaHei"/>
                <a:ea typeface="Microsoft YaHei"/>
              </a:rPr>
              <a:t>下次并行前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7924800" y="5267325"/>
            <a:ext cx="3238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150">
                <a:solidFill>
                  <a:srgbClr val="3DDC84"/>
                </a:solidFill>
                <a:latin typeface="Microsoft YaHei"/>
                <a:ea typeface="Microsoft YaHei"/>
              </a:rPr>
              <a:t>交付前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685800" y="2762250"/>
            <a:ext cx="6096000" cy="914400"/>
          </a:xfrm>
          <a:prstGeom prst="rect"/>
        </p:spPr>
        <p:txBody>
          <a:bodyPr wrap="square" lIns="0" tIns="0" rIns="0" bIns="0">
            <a:normAutofit fontScale="90000"/>
          </a:bodyPr>
          <a:lstStyle/>
          <a:p>
            <a:pPr>
              <a:lnSpc>
                <a:spcPct val="180000"/>
              </a:lnSpc>
            </a:pPr>
            <a:r>
              <a:rPr lang="en-US" sz="1238">
                <a:solidFill>
                  <a:srgbClr val="E9F1EC">
                    <a:alpha val="55000"/>
                  </a:srgbClr>
                </a:solidFill>
                <a:latin typeface="Microsoft YaHei"/>
                <a:ea typeface="Microsoft YaHei"/>
                <a:cs typeface="+mn-cs"/>
              </a:rPr>
              <a:t xml:space="preserve">TRAE </a:t>
            </a:r>
            <a:r>
              <a:rPr lang="zh-CN" sz="1238">
                <a:solidFill>
                  <a:srgbClr val="E9F1EC">
                    <a:alpha val="55000"/>
                  </a:srgbClr>
                </a:solidFill>
                <a:latin typeface="Microsoft YaHei"/>
                <a:ea typeface="Microsoft YaHei"/>
                <a:cs typeface="+mn-cs"/>
              </a:rPr>
              <a:t>让你写得更快，但决定成败的从来不是写得多快——是你能不能在台上把那</a:t>
            </a:r>
            <a:r>
              <a:rPr lang="en-US" sz="1238">
                <a:solidFill>
                  <a:srgbClr val="E9F1EC">
                    <a:alpha val="55000"/>
                  </a:srgbClr>
                </a:solidFill>
                <a:latin typeface="Microsoft YaHei"/>
                <a:ea typeface="Microsoft YaHei"/>
                <a:cs typeface="+mn-cs"/>
              </a:rPr>
              <a:t xml:space="preserve"> 60 </a:t>
            </a:r>
            <a:r>
              <a:rPr lang="zh-CN" sz="1238">
                <a:solidFill>
                  <a:srgbClr val="E9F1EC">
                    <a:alpha val="55000"/>
                  </a:srgbClr>
                </a:solidFill>
                <a:latin typeface="Microsoft YaHei"/>
                <a:ea typeface="Microsoft YaHei"/>
                <a:cs typeface="+mn-cs"/>
              </a:rPr>
              <a:t>秒讲完。</a:t>
            </a:r>
            <a:br>
              <a:rPr/>
            </a:br>
            <a:r>
              <a:rPr lang="en-US" sz="1238">
                <a:solidFill>
                  <a:srgbClr val="E9F1EC">
                    <a:alpha val="55000"/>
                  </a:srgbClr>
                </a:solidFill>
                <a:latin typeface="Microsoft YaHei"/>
                <a:ea typeface="Microsoft YaHei"/>
                <a:cs typeface="+mn-cs"/>
              </a:rPr>
              <a:t>demo</a:t>
            </a:r>
            <a:r>
              <a:rPr lang="zh-CN" sz="1238">
                <a:solidFill>
                  <a:srgbClr val="E9F1EC">
                    <a:alpha val="55000"/>
                  </a:srgbClr>
                </a:solidFill>
                <a:latin typeface="Microsoft YaHei"/>
                <a:ea typeface="Microsoft YaHei"/>
                <a:cs typeface="+mn-cs"/>
              </a:rPr>
              <a:t>：</a:t>
            </a:r>
            <a:r>
              <a:rPr u="sng">
                <a:hlinkClick r:id="rId1"/>
              </a:rPr>
              <a:t>人类协议 2100 · 文明推演器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7781925" y="723900"/>
            <a:ext cx="3343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spc="150">
                <a:solidFill>
                  <a:srgbClr val="E9F1EC">
                    <a:alpha val="40000"/>
                  </a:srgbClr>
                </a:solidFill>
                <a:latin typeface="Microsoft YaHei"/>
                <a:ea typeface="Microsoft YaHei"/>
              </a:rPr>
              <a:t>回顾</a:t>
            </a:r>
            <a:r>
              <a:rPr lang="en-US" sz="938" spc="150">
                <a:solidFill>
                  <a:srgbClr val="E9F1EC">
                    <a:alpha val="40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 spc="150">
                <a:solidFill>
                  <a:srgbClr val="E9F1EC">
                    <a:alpha val="40000"/>
                  </a:srgbClr>
                </a:solidFill>
                <a:latin typeface="Microsoft YaHei"/>
                <a:ea typeface="Microsoft YaHei"/>
              </a:rPr>
              <a:t>三条铁律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7781925" y="3562350"/>
            <a:ext cx="3343275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38">
                <a:solidFill>
                  <a:srgbClr val="E9F1EC">
                    <a:alpha val="40000"/>
                  </a:srgbClr>
                </a:solidFill>
                <a:latin typeface="Microsoft YaHei"/>
                <a:ea typeface="Microsoft YaHei"/>
              </a:rPr>
              <a:t>今天讲的所有东西，都是这三条的注脚。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952500" y="4067175"/>
            <a:ext cx="111442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9F1EC">
                    <a:alpha val="50000"/>
                  </a:srgbClr>
                </a:solidFill>
                <a:latin typeface="Microsoft YaHei"/>
                <a:ea typeface="Microsoft YaHei"/>
              </a:rPr>
              <a:t>条并行线，文件互斥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3667125" y="4067175"/>
            <a:ext cx="14859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9F1EC">
                    <a:alpha val="50000"/>
                  </a:srgbClr>
                </a:solidFill>
                <a:latin typeface="Microsoft YaHei"/>
                <a:ea typeface="Microsoft YaHei"/>
              </a:rPr>
              <a:t>组参数预生成，零后端可演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6696075" y="4067175"/>
            <a:ext cx="136207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9F1EC">
                    <a:alpha val="50000"/>
                  </a:srgbClr>
                </a:solidFill>
                <a:latin typeface="Microsoft YaHei"/>
                <a:ea typeface="Microsoft YaHei"/>
              </a:rPr>
              <a:t>三个均衡任务的实测提速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9286875" y="4067175"/>
            <a:ext cx="12382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9F1EC">
                    <a:alpha val="50000"/>
                  </a:srgbClr>
                </a:solidFill>
                <a:latin typeface="Microsoft YaHei"/>
                <a:ea typeface="Microsoft YaHei"/>
              </a:rPr>
              <a:t>分钟，从关键词到上台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685800" y="5495925"/>
            <a:ext cx="32385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88">
                <a:solidFill>
                  <a:srgbClr val="E9F1EC">
                    <a:alpha val="72000"/>
                  </a:srgbClr>
                </a:solidFill>
                <a:latin typeface="Microsoft YaHei"/>
                <a:ea typeface="Microsoft YaHei"/>
              </a:rPr>
              <a:t>随便抽三个关键词，写一份</a:t>
            </a:r>
            <a:r>
              <a:rPr lang="en-US" sz="1088">
                <a:solidFill>
                  <a:srgbClr val="E9F1EC">
                    <a:alpha val="72000"/>
                  </a:srgbClr>
                </a:solidFill>
                <a:latin typeface="Microsoft YaHei"/>
                <a:ea typeface="Microsoft YaHei"/>
              </a:rPr>
              <a:t xml:space="preserve"> 60 </a:t>
            </a:r>
            <a:r>
              <a:rPr lang="zh-CN" sz="1088">
                <a:solidFill>
                  <a:srgbClr val="E9F1EC">
                    <a:alpha val="72000"/>
                  </a:srgbClr>
                </a:solidFill>
                <a:latin typeface="Microsoft YaHei"/>
                <a:ea typeface="Microsoft YaHei"/>
              </a:rPr>
              <a:t>秒脚本——</a:t>
            </a:r>
            <a:r>
              <a:rPr lang="en-US" sz="1088">
                <a:solidFill>
                  <a:srgbClr val="E9F1EC">
                    <a:alpha val="72000"/>
                  </a:srgbClr>
                </a:solidFill>
                <a:latin typeface="Microsoft YaHei"/>
                <a:ea typeface="Microsoft YaHei"/>
              </a:rPr>
              <a:t xml:space="preserve">20 </a:t>
            </a:r>
            <a:r>
              <a:rPr lang="zh-CN" sz="1088">
                <a:solidFill>
                  <a:srgbClr val="E9F1EC">
                    <a:alpha val="72000"/>
                  </a:srgbClr>
                </a:solidFill>
                <a:latin typeface="Microsoft YaHei"/>
                <a:ea typeface="Microsoft YaHei"/>
              </a:rPr>
              <a:t>分钟，不写一行代码。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4305300" y="5495925"/>
            <a:ext cx="32385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88">
                <a:solidFill>
                  <a:srgbClr val="E9F1EC">
                    <a:alpha val="72000"/>
                  </a:srgbClr>
                </a:solidFill>
                <a:latin typeface="Microsoft YaHei"/>
                <a:ea typeface="Microsoft YaHei"/>
              </a:rPr>
              <a:t>先花</a:t>
            </a:r>
            <a:r>
              <a:rPr lang="en-US" sz="1088">
                <a:solidFill>
                  <a:srgbClr val="E9F1EC">
                    <a:alpha val="72000"/>
                  </a:srgbClr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088">
                <a:solidFill>
                  <a:srgbClr val="E9F1EC">
                    <a:alpha val="72000"/>
                  </a:srgbClr>
                </a:solidFill>
                <a:latin typeface="Microsoft YaHei"/>
                <a:ea typeface="Microsoft YaHei"/>
              </a:rPr>
              <a:t>分钟写契约</a:t>
            </a:r>
            <a:r>
              <a:rPr lang="en-US" sz="1088">
                <a:solidFill>
                  <a:srgbClr val="E9F1EC">
                    <a:alpha val="72000"/>
                  </a:srgbClr>
                </a:solidFill>
                <a:latin typeface="Microsoft YaHei"/>
                <a:ea typeface="Microsoft YaHei"/>
              </a:rPr>
              <a:t>.md</a:t>
            </a:r>
            <a:r>
              <a:rPr lang="zh-CN" sz="1088">
                <a:solidFill>
                  <a:srgbClr val="E9F1EC">
                    <a:alpha val="72000"/>
                  </a:srgbClr>
                </a:solidFill>
                <a:latin typeface="Microsoft YaHei"/>
                <a:ea typeface="Microsoft YaHei"/>
              </a:rPr>
              <a:t>：字段名、签名、路径、文件所有权，然后冻结。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7924800" y="5495925"/>
            <a:ext cx="32385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88">
                <a:solidFill>
                  <a:srgbClr val="E9F1EC">
                    <a:alpha val="72000"/>
                  </a:srgbClr>
                </a:solidFill>
                <a:latin typeface="Microsoft YaHei"/>
                <a:ea typeface="Microsoft YaHei"/>
              </a:rPr>
              <a:t>把兜底当成需求项：超时</a:t>
            </a:r>
            <a:r>
              <a:rPr lang="en-US" sz="1088">
                <a:solidFill>
                  <a:srgbClr val="E9F1EC">
                    <a:alpha val="72000"/>
                  </a:srgbClr>
                </a:solidFill>
                <a:latin typeface="Microsoft YaHei"/>
                <a:ea typeface="Microsoft YaHei"/>
              </a:rPr>
              <a:t xml:space="preserve"> mock</a:t>
            </a:r>
            <a:r>
              <a:rPr lang="zh-CN" sz="1088">
                <a:solidFill>
                  <a:srgbClr val="E9F1EC">
                    <a:alpha val="72000"/>
                  </a:srgbClr>
                </a:solidFill>
                <a:latin typeface="Microsoft YaHei"/>
                <a:ea typeface="Microsoft YaHei"/>
              </a:rPr>
              <a:t>、预生成表、录屏，三样至少有两样。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685800" y="6296025"/>
            <a:ext cx="2324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E9F1EC">
                    <a:alpha val="38000"/>
                  </a:srgbClr>
                </a:solidFill>
                <a:latin typeface="Microsoft YaHei"/>
                <a:ea typeface="Microsoft YaHei"/>
              </a:rPr>
              <a:t xml:space="preserve">TRAE </a:t>
            </a:r>
            <a:r>
              <a:rPr lang="zh-CN" sz="900">
                <a:solidFill>
                  <a:srgbClr val="E9F1EC">
                    <a:alpha val="38000"/>
                  </a:srgbClr>
                </a:solidFill>
                <a:latin typeface="Microsoft YaHei"/>
                <a:ea typeface="Microsoft YaHei"/>
              </a:rPr>
              <a:t>高效开发实战</a:t>
            </a:r>
            <a:r>
              <a:rPr lang="en-US" sz="900">
                <a:solidFill>
                  <a:srgbClr val="E9F1EC">
                    <a:alpha val="38000"/>
                  </a:srgbClr>
                </a:solidFill>
                <a:latin typeface="Microsoft YaHei"/>
                <a:ea typeface="Microsoft YaHei"/>
              </a:rPr>
              <a:t xml:space="preserve"> · 1024 </a:t>
            </a:r>
            <a:r>
              <a:rPr lang="zh-CN" sz="900">
                <a:solidFill>
                  <a:srgbClr val="E9F1EC">
                    <a:alpha val="38000"/>
                  </a:srgbClr>
                </a:solidFill>
                <a:latin typeface="Microsoft YaHei"/>
                <a:ea typeface="Microsoft YaHei"/>
              </a:rPr>
              <a:t>济宁</a:t>
            </a:r>
            <a:r>
              <a:rPr lang="en-US" sz="900">
                <a:solidFill>
                  <a:srgbClr val="E9F1EC">
                    <a:alpha val="38000"/>
                  </a:srgbClr>
                </a:solidFill>
                <a:latin typeface="Microsoft YaHei"/>
                <a:ea typeface="Microsoft YaHei"/>
              </a:rPr>
              <a:t xml:space="preserve"> · 2026.10.24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11115675" y="629602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E9F1EC">
                    <a:alpha val="38000"/>
                  </a:srgbClr>
                </a:solidFill>
                <a:latin typeface="Microsoft YaHei"/>
                <a:ea typeface="Microsoft YaHei"/>
              </a:rPr>
              <a:t>11 / 11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2026-10-24T07:10:36Z</dcterms:created>
  <dcterms:modified xsi:type="dcterms:W3CDTF">2026-10-24T07:10:36Z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{"AIGC":{"Label":"1","ContentProducer":"00119111010856365494821B355","ProduceID":"01a16951df5c71cca119067cce03bbcd","ReservedCode1":"","ContentPropagator":"00119111010856365494821B355","PropagateID":"01a16951df5c71cca119067cce03bbcd","ReservedCode2":""}}</vt:lpwstr>
  </property>
</Properties>
</file>